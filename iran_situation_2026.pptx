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E8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2377440"/>
            <a:ext cx="11868912" cy="381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5146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>
                <a:solidFill>
                  <a:srgbClr val="FFFFFF"/>
                </a:solidFill>
                <a:latin typeface="Meiryo"/>
              </a:rPr>
              <a:t>イラン情勢まとめ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3375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CFD8E6"/>
                </a:solidFill>
                <a:latin typeface="Meiryo"/>
              </a:rPr>
              <a:t>2026年3月現在 ／ 軍事衝突・国内混乱・国際社会の対応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9436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5A623"/>
                </a:solidFill>
                <a:latin typeface="Meiryo"/>
              </a:rPr>
              <a:t>2026年3月3日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E8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0"/>
            <a:ext cx="11868912" cy="13258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A623"/>
                </a:solidFill>
                <a:latin typeface="Meiryo"/>
              </a:rPr>
              <a:t>01  ／  国内反政府デモの勃発（2025年12月〜2026年1月）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08760"/>
            <a:ext cx="5120640" cy="48463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00200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83A3A"/>
                </a:solidFill>
                <a:latin typeface="Meiryo"/>
              </a:rPr>
              <a:t>背景と経緯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148840"/>
            <a:ext cx="4846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40"/>
              </a:spcBef>
            </a:pPr>
            <a:r>
              <a:rPr sz="1350">
                <a:solidFill>
                  <a:srgbClr val="FFFFFF"/>
                </a:solidFill>
                <a:latin typeface="Meiryo"/>
              </a:rPr>
              <a:t>▶  インフレ・食料品価格高騰・通貨暴落への不満が爆発</a:t>
            </a:r>
          </a:p>
          <a:p>
            <a:pPr>
              <a:spcBef>
                <a:spcPts val="540"/>
              </a:spcBef>
            </a:pPr>
            <a:r>
              <a:rPr sz="1350">
                <a:solidFill>
                  <a:srgbClr val="FFFFFF"/>
                </a:solidFill>
                <a:latin typeface="Meiryo"/>
              </a:rPr>
              <a:t>▶  2025年12月28日、複数都市で大規模デモ勃発</a:t>
            </a:r>
          </a:p>
          <a:p>
            <a:pPr>
              <a:spcBef>
                <a:spcPts val="540"/>
              </a:spcBef>
            </a:pPr>
            <a:r>
              <a:rPr sz="1350">
                <a:solidFill>
                  <a:srgbClr val="FFFFFF"/>
                </a:solidFill>
                <a:latin typeface="Meiryo"/>
              </a:rPr>
              <a:t>▶  商店主・大学生・労働者・女性・少数民族が参加</a:t>
            </a:r>
          </a:p>
          <a:p>
            <a:pPr>
              <a:spcBef>
                <a:spcPts val="540"/>
              </a:spcBef>
            </a:pPr>
            <a:r>
              <a:rPr sz="1350">
                <a:solidFill>
                  <a:srgbClr val="FFFFFF"/>
                </a:solidFill>
                <a:latin typeface="Meiryo"/>
              </a:rPr>
              <a:t>▶  「経済改善」から「政権打倒」へ要求が急速に拡大</a:t>
            </a:r>
          </a:p>
          <a:p>
            <a:pPr>
              <a:spcBef>
                <a:spcPts val="540"/>
              </a:spcBef>
            </a:pPr>
            <a:r>
              <a:rPr sz="1350">
                <a:solidFill>
                  <a:srgbClr val="FFFFFF"/>
                </a:solidFill>
                <a:latin typeface="Meiryo"/>
              </a:rPr>
              <a:t>▶  地方都市を含む全国規模へと波及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0" y="1508760"/>
            <a:ext cx="5669280" cy="48463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80760" y="160020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83A3A"/>
                </a:solidFill>
                <a:latin typeface="Meiryo"/>
              </a:rPr>
              <a:t>政府の対応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60" y="2148840"/>
            <a:ext cx="53035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40"/>
              </a:spcBef>
            </a:pPr>
            <a:r>
              <a:rPr sz="1350">
                <a:solidFill>
                  <a:srgbClr val="FFFFFF"/>
                </a:solidFill>
                <a:latin typeface="Meiryo"/>
              </a:rPr>
              <a:t>▶  治安部隊が実弾発砲、数十人が逮捕</a:t>
            </a:r>
          </a:p>
          <a:p>
            <a:pPr>
              <a:spcBef>
                <a:spcPts val="540"/>
              </a:spcBef>
            </a:pPr>
            <a:r>
              <a:rPr sz="1350">
                <a:solidFill>
                  <a:srgbClr val="FFFFFF"/>
                </a:solidFill>
                <a:latin typeface="Meiryo"/>
              </a:rPr>
              <a:t>▶  イラクのシーア派民兵800人を鎮圧に動員</a:t>
            </a:r>
          </a:p>
          <a:p>
            <a:pPr>
              <a:spcBef>
                <a:spcPts val="540"/>
              </a:spcBef>
            </a:pPr>
            <a:r>
              <a:rPr sz="1350">
                <a:solidFill>
                  <a:srgbClr val="FFFFFF"/>
                </a:solidFill>
                <a:latin typeface="Meiryo"/>
              </a:rPr>
              <a:t>▶  インターネット検閲を強化・情報統制を徹底</a:t>
            </a:r>
          </a:p>
          <a:p>
            <a:pPr>
              <a:spcBef>
                <a:spcPts val="540"/>
              </a:spcBef>
            </a:pPr>
            <a:r>
              <a:rPr sz="1350">
                <a:solidFill>
                  <a:srgbClr val="FFFFFF"/>
                </a:solidFill>
                <a:latin typeface="Meiryo"/>
              </a:rPr>
              <a:t>▶  地方での実態把握が国際社会にとり困難に</a:t>
            </a:r>
          </a:p>
          <a:p>
            <a:pPr>
              <a:spcBef>
                <a:spcPts val="540"/>
              </a:spcBef>
            </a:pPr>
            <a:r>
              <a:rPr sz="1350">
                <a:solidFill>
                  <a:srgbClr val="FFFFFF"/>
                </a:solidFill>
                <a:latin typeface="Meiryo"/>
              </a:rPr>
              <a:t>▶  トランプ米大統領がデモ参加者に声援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E8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0"/>
            <a:ext cx="11868912" cy="13258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A623"/>
                </a:solidFill>
                <a:latin typeface="Meiryo"/>
              </a:rPr>
              <a:t>02  ／  米・イスラエルによる大規模軍事攻撃（2026年2月28日）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08760"/>
            <a:ext cx="3611880" cy="48463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0020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83A3A"/>
                </a:solidFill>
                <a:latin typeface="Meiryo"/>
              </a:rPr>
              <a:t>攻撃の概要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148840"/>
            <a:ext cx="33832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20"/>
              </a:spcBef>
            </a:pPr>
            <a:r>
              <a:rPr sz="1300">
                <a:solidFill>
                  <a:srgbClr val="FFFFFF"/>
                </a:solidFill>
                <a:latin typeface="Meiryo"/>
              </a:rPr>
              <a:t>▶  2026年2月28日に攻撃開始</a:t>
            </a:r>
          </a:p>
          <a:p>
            <a:pPr>
              <a:spcBef>
                <a:spcPts val="520"/>
              </a:spcBef>
            </a:pPr>
            <a:r>
              <a:rPr sz="1300">
                <a:solidFill>
                  <a:srgbClr val="FFFFFF"/>
                </a:solidFill>
                <a:latin typeface="Meiryo"/>
              </a:rPr>
              <a:t>▶  約500か所の標的を一斉攻撃</a:t>
            </a:r>
          </a:p>
          <a:p>
            <a:pPr>
              <a:spcBef>
                <a:spcPts val="520"/>
              </a:spcBef>
            </a:pPr>
            <a:r>
              <a:rPr sz="1300">
                <a:solidFill>
                  <a:srgbClr val="FFFFFF"/>
                </a:solidFill>
                <a:latin typeface="Meiryo"/>
              </a:rPr>
              <a:t>▶  防空システム・ミサイル発射装置</a:t>
            </a:r>
          </a:p>
          <a:p>
            <a:pPr>
              <a:spcBef>
                <a:spcPts val="520"/>
              </a:spcBef>
            </a:pPr>
            <a:r>
              <a:rPr sz="1300">
                <a:solidFill>
                  <a:srgbClr val="FFFFFF"/>
                </a:solidFill>
                <a:latin typeface="Meiryo"/>
              </a:rPr>
              <a:t>▶  核施設・弾道ミサイルインフラ</a:t>
            </a:r>
          </a:p>
          <a:p>
            <a:pPr>
              <a:spcBef>
                <a:spcPts val="520"/>
              </a:spcBef>
            </a:pPr>
            <a:r>
              <a:rPr sz="1300">
                <a:solidFill>
                  <a:srgbClr val="FFFFFF"/>
                </a:solidFill>
                <a:latin typeface="Meiryo"/>
              </a:rPr>
              <a:t>▶  指導部の拠点・軍事司令部</a:t>
            </a:r>
          </a:p>
        </p:txBody>
      </p:sp>
      <p:sp>
        <p:nvSpPr>
          <p:cNvPr id="9" name="Rectangle 8"/>
          <p:cNvSpPr/>
          <p:nvPr/>
        </p:nvSpPr>
        <p:spPr>
          <a:xfrm>
            <a:off x="4434840" y="1508760"/>
            <a:ext cx="3611880" cy="48463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60020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83A3A"/>
                </a:solidFill>
                <a:latin typeface="Meiryo"/>
              </a:rPr>
              <a:t>作戦の目的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148840"/>
            <a:ext cx="33832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20"/>
              </a:spcBef>
            </a:pPr>
            <a:r>
              <a:rPr sz="1300">
                <a:solidFill>
                  <a:srgbClr val="FFFFFF"/>
                </a:solidFill>
                <a:latin typeface="Meiryo"/>
              </a:rPr>
              <a:t>▶  イランの政権交代を誘導</a:t>
            </a:r>
          </a:p>
          <a:p>
            <a:pPr>
              <a:spcBef>
                <a:spcPts val="520"/>
              </a:spcBef>
            </a:pPr>
            <a:r>
              <a:rPr sz="1300">
                <a:solidFill>
                  <a:srgbClr val="FFFFFF"/>
                </a:solidFill>
                <a:latin typeface="Meiryo"/>
              </a:rPr>
              <a:t>▶  核開発プログラムの無力化</a:t>
            </a:r>
          </a:p>
          <a:p>
            <a:pPr>
              <a:spcBef>
                <a:spcPts val="520"/>
              </a:spcBef>
            </a:pPr>
            <a:r>
              <a:rPr sz="1300">
                <a:solidFill>
                  <a:srgbClr val="FFFFFF"/>
                </a:solidFill>
                <a:latin typeface="Meiryo"/>
              </a:rPr>
              <a:t>▶  地域の安全保障上の脅威除去</a:t>
            </a:r>
          </a:p>
          <a:p>
            <a:pPr>
              <a:spcBef>
                <a:spcPts val="520"/>
              </a:spcBef>
            </a:pPr>
            <a:r>
              <a:rPr sz="1300">
                <a:solidFill>
                  <a:srgbClr val="FFFFFF"/>
                </a:solidFill>
                <a:latin typeface="Meiryo"/>
              </a:rPr>
              <a:t>▶  IAEAは核施設への直撃を未確認</a:t>
            </a:r>
          </a:p>
          <a:p>
            <a:pPr>
              <a:spcBef>
                <a:spcPts val="520"/>
              </a:spcBef>
            </a:pPr>
            <a:r>
              <a:rPr sz="1300">
                <a:solidFill>
                  <a:srgbClr val="FFFFFF"/>
                </a:solidFill>
                <a:latin typeface="Meiryo"/>
              </a:rPr>
              <a:t>▶  米兵3名死亡・5名重傷が発生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321040" y="1508760"/>
            <a:ext cx="3611880" cy="48463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58200" y="160020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83A3A"/>
                </a:solidFill>
                <a:latin typeface="Meiryo"/>
              </a:rPr>
              <a:t>使用された手段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58200" y="2148840"/>
            <a:ext cx="33832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20"/>
              </a:spcBef>
            </a:pPr>
            <a:r>
              <a:rPr sz="1300">
                <a:solidFill>
                  <a:srgbClr val="FFFFFF"/>
                </a:solidFill>
                <a:latin typeface="Meiryo"/>
              </a:rPr>
              <a:t>▶  大量の航空機による波状攻撃</a:t>
            </a:r>
          </a:p>
          <a:p>
            <a:pPr>
              <a:spcBef>
                <a:spcPts val="520"/>
              </a:spcBef>
            </a:pPr>
            <a:r>
              <a:rPr sz="1300">
                <a:solidFill>
                  <a:srgbClr val="FFFFFF"/>
                </a:solidFill>
                <a:latin typeface="Meiryo"/>
              </a:rPr>
              <a:t>▶  精密誘導爆弾・巡航ミサイル</a:t>
            </a:r>
          </a:p>
          <a:p>
            <a:pPr>
              <a:spcBef>
                <a:spcPts val="520"/>
              </a:spcBef>
            </a:pPr>
            <a:r>
              <a:rPr sz="1300">
                <a:solidFill>
                  <a:srgbClr val="FFFFFF"/>
                </a:solidFill>
                <a:latin typeface="Meiryo"/>
              </a:rPr>
              <a:t>▶  米・イスラエルの合同作戦</a:t>
            </a:r>
          </a:p>
          <a:p>
            <a:pPr>
              <a:spcBef>
                <a:spcPts val="520"/>
              </a:spcBef>
            </a:pPr>
            <a:r>
              <a:rPr sz="1300">
                <a:solidFill>
                  <a:srgbClr val="FFFFFF"/>
                </a:solidFill>
                <a:latin typeface="Meiryo"/>
              </a:rPr>
              <a:t>▶  事前の外交交渉は不成立</a:t>
            </a:r>
          </a:p>
          <a:p>
            <a:pPr>
              <a:spcBef>
                <a:spcPts val="520"/>
              </a:spcBef>
            </a:pPr>
            <a:r>
              <a:rPr sz="1300">
                <a:solidFill>
                  <a:srgbClr val="FFFFFF"/>
                </a:solidFill>
                <a:latin typeface="Meiryo"/>
              </a:rPr>
              <a:t>▶  湾岸基地から出撃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E8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0"/>
            <a:ext cx="11868912" cy="13258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A623"/>
                </a:solidFill>
                <a:latin typeface="Meiryo"/>
              </a:rPr>
              <a:t>03  ／  最高指導者ハメネイ師の死亡とイランの報復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08760"/>
            <a:ext cx="10881360" cy="960120"/>
          </a:xfrm>
          <a:prstGeom prst="rect">
            <a:avLst/>
          </a:prstGeom>
          <a:solidFill>
            <a:srgbClr val="4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508760"/>
            <a:ext cx="73152" cy="960120"/>
          </a:xfrm>
          <a:prstGeom prst="rect">
            <a:avLst/>
          </a:prstGeom>
          <a:solidFill>
            <a:srgbClr val="E8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600200"/>
            <a:ext cx="10424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>
                <a:solidFill>
                  <a:srgbClr val="FFFFFF"/>
                </a:solidFill>
                <a:latin typeface="Meiryo"/>
              </a:rPr>
              <a:t>2026年3月1日：最高指導者アリ・ハメネイ師（享年86歳）が攻撃で死亡。娘・息子の配偶者・孫も同時に死亡。イラン国営メディアが確認。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606040"/>
            <a:ext cx="5120640" cy="3749039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697480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83A3A"/>
                </a:solidFill>
                <a:latin typeface="Meiryo"/>
              </a:rPr>
              <a:t>イランの報復攻撃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246120"/>
            <a:ext cx="48463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20"/>
              </a:spcBef>
            </a:pPr>
            <a:r>
              <a:rPr sz="1300">
                <a:solidFill>
                  <a:srgbClr val="FFFFFF"/>
                </a:solidFill>
                <a:latin typeface="Meiryo"/>
              </a:rPr>
              <a:t>▶  イスラエル・米軍駐留国に向けミサイル発射</a:t>
            </a:r>
          </a:p>
          <a:p>
            <a:pPr>
              <a:spcBef>
                <a:spcPts val="520"/>
              </a:spcBef>
            </a:pPr>
            <a:r>
              <a:rPr sz="1300">
                <a:solidFill>
                  <a:srgbClr val="FFFFFF"/>
                </a:solidFill>
                <a:latin typeface="Meiryo"/>
              </a:rPr>
              <a:t>▶  標的：サウジアラビア・UAE・カタール・バーレーン・クウェート・イラク・ヨルダン</a:t>
            </a:r>
          </a:p>
          <a:p>
            <a:pPr>
              <a:spcBef>
                <a:spcPts val="520"/>
              </a:spcBef>
            </a:pPr>
            <a:r>
              <a:rPr sz="1300">
                <a:solidFill>
                  <a:srgbClr val="FFFFFF"/>
                </a:solidFill>
                <a:latin typeface="Meiryo"/>
              </a:rPr>
              <a:t>▶  大半が迎撃されたが一部が着弾</a:t>
            </a:r>
          </a:p>
          <a:p>
            <a:pPr>
              <a:spcBef>
                <a:spcPts val="520"/>
              </a:spcBef>
            </a:pPr>
            <a:r>
              <a:rPr sz="1300">
                <a:solidFill>
                  <a:srgbClr val="FFFFFF"/>
                </a:solidFill>
                <a:latin typeface="Meiryo"/>
              </a:rPr>
              <a:t>▶  ヒズボラがイスラエル・ハイファのIDF基地攻撃</a:t>
            </a:r>
          </a:p>
          <a:p>
            <a:pPr>
              <a:spcBef>
                <a:spcPts val="520"/>
              </a:spcBef>
            </a:pPr>
            <a:r>
              <a:rPr sz="1300">
                <a:solidFill>
                  <a:srgbClr val="FFFFFF"/>
                </a:solidFill>
                <a:latin typeface="Meiryo"/>
              </a:rPr>
              <a:t>▶  在リヤド米国大使館がドローン攻撃を受ける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2606040"/>
            <a:ext cx="5669280" cy="3749039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80760" y="269748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83A3A"/>
                </a:solidFill>
                <a:latin typeface="Meiryo"/>
              </a:rPr>
              <a:t>イラン政府の姿勢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3246120"/>
            <a:ext cx="53035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20"/>
              </a:spcBef>
            </a:pPr>
            <a:r>
              <a:rPr sz="1300">
                <a:solidFill>
                  <a:srgbClr val="FFFFFF"/>
                </a:solidFill>
                <a:latin typeface="Meiryo"/>
              </a:rPr>
              <a:t>▶  「立場は揺るがない」と国営メディアが声明</a:t>
            </a:r>
          </a:p>
          <a:p>
            <a:pPr>
              <a:spcBef>
                <a:spcPts val="520"/>
              </a:spcBef>
            </a:pPr>
            <a:r>
              <a:rPr sz="1300">
                <a:solidFill>
                  <a:srgbClr val="FFFFFF"/>
                </a:solidFill>
                <a:latin typeface="Meiryo"/>
              </a:rPr>
              <a:t>▶  「死はイランをより強くした」と強調</a:t>
            </a:r>
          </a:p>
          <a:p>
            <a:pPr>
              <a:spcBef>
                <a:spcPts val="520"/>
              </a:spcBef>
            </a:pPr>
            <a:r>
              <a:rPr sz="1300">
                <a:solidFill>
                  <a:srgbClr val="FFFFFF"/>
                </a:solidFill>
                <a:latin typeface="Meiryo"/>
              </a:rPr>
              <a:t>▶  40日間の喪に服すると宣言・7日間の国民休暇</a:t>
            </a:r>
          </a:p>
          <a:p>
            <a:pPr>
              <a:spcBef>
                <a:spcPts val="520"/>
              </a:spcBef>
            </a:pPr>
            <a:r>
              <a:rPr sz="1300">
                <a:solidFill>
                  <a:srgbClr val="FFFFFF"/>
                </a:solidFill>
                <a:latin typeface="Meiryo"/>
              </a:rPr>
              <a:t>▶  イスラエルは引き続きテヘランの数十か所を攻撃</a:t>
            </a:r>
          </a:p>
          <a:p>
            <a:pPr>
              <a:spcBef>
                <a:spcPts val="520"/>
              </a:spcBef>
            </a:pPr>
            <a:r>
              <a:rPr sz="1300">
                <a:solidFill>
                  <a:srgbClr val="FFFFFF"/>
                </a:solidFill>
                <a:latin typeface="Meiryo"/>
              </a:rPr>
              <a:t>▶  最高指導者の後継問題が今後の焦点に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E8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0"/>
            <a:ext cx="11868912" cy="13258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A623"/>
                </a:solidFill>
                <a:latin typeface="Meiryo"/>
              </a:rPr>
              <a:t>04  ／  国際社会の反応と今後の影響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08760"/>
            <a:ext cx="3611880" cy="21945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0020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5A623"/>
                </a:solidFill>
                <a:latin typeface="Meiryo"/>
              </a:rPr>
              <a:t>中国・ロシア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01168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83A3A"/>
                </a:solidFill>
                <a:latin typeface="Meiryo"/>
              </a:rPr>
              <a:t>強く非難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395728"/>
            <a:ext cx="3383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FD8E6"/>
                </a:solidFill>
                <a:latin typeface="Meiryo"/>
              </a:rPr>
              <a:t>「国連憲章違反」（中国）
「不当な武力行使」（ロシア）
両国ともイラン支持を表明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34840" y="1508760"/>
            <a:ext cx="3611880" cy="21945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60020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5A623"/>
                </a:solidFill>
                <a:latin typeface="Meiryo"/>
              </a:rPr>
              <a:t>EU・国際社会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01168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83A3A"/>
                </a:solidFill>
                <a:latin typeface="Meiryo"/>
              </a:rPr>
              <a:t>自制を要求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395728"/>
            <a:ext cx="3383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FD8E6"/>
                </a:solidFill>
                <a:latin typeface="Meiryo"/>
              </a:rPr>
              <a:t>「最大限の自制を求める」
民間人保護・国際法の遵守を要求
外交的解決を呼びかけ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321040" y="1508760"/>
            <a:ext cx="3611880" cy="21945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58200" y="160020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5A623"/>
                </a:solidFill>
                <a:latin typeface="Meiryo"/>
              </a:rPr>
              <a:t>米・トランプ政権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58200" y="201168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83A3A"/>
                </a:solidFill>
                <a:latin typeface="Meiryo"/>
              </a:rPr>
              <a:t>継続の意向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58200" y="2395728"/>
            <a:ext cx="3383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FD8E6"/>
                </a:solidFill>
                <a:latin typeface="Meiryo"/>
              </a:rPr>
              <a:t>「米兵の死を報復する」と宣言
作戦継続を表明
以前よりイランへの軍事攻撃を示唆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840480"/>
            <a:ext cx="10881360" cy="25146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83A3A"/>
                </a:solidFill>
                <a:latin typeface="Meiryo"/>
              </a:rPr>
              <a:t>経済・社会・日本への影響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38912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CFD8E6"/>
                </a:solidFill>
                <a:latin typeface="Meiryo"/>
              </a:rPr>
              <a:t>✈  湾岸航空各社（エミレーツ・エティハド・カタール航空など）が運航停止→中東の航空ハブ機能がまひ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818888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CFD8E6"/>
                </a:solidFill>
                <a:latin typeface="Meiryo"/>
              </a:rPr>
              <a:t>🛢  ホルムズ海峡・紅海の緊張が頂点に達し、原油価格が急騰。世界のサプライチェーンに深刻な影響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5248656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CFD8E6"/>
                </a:solidFill>
                <a:latin typeface="Meiryo"/>
              </a:rPr>
              <a:t>🇯🇵  日本：高市首相が補正予算編成の可能性に言及。エネルギー安全保障の見直しが急務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5678424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CFD8E6"/>
                </a:solidFill>
                <a:latin typeface="Meiryo"/>
              </a:rPr>
              <a:t>🌍  世界各地で反戦デモが拡大。イラン支持・攻撃非難の声が高まる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