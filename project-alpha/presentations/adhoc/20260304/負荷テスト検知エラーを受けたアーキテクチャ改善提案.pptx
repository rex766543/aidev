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4D94CC"/>
          </a:solidFill>
          <a:ln/>
        </p:spPr>
      </p:sp>
      <p:sp>
        <p:nvSpPr>
          <p:cNvPr id="3" name="Shape 1"/>
          <p:cNvSpPr/>
          <p:nvPr/>
        </p:nvSpPr>
        <p:spPr>
          <a:xfrm>
            <a:off x="502920" y="1097280"/>
            <a:ext cx="64008" cy="2926080"/>
          </a:xfrm>
          <a:prstGeom prst="rect">
            <a:avLst/>
          </a:prstGeom>
          <a:solidFill>
            <a:srgbClr val="4D94CC"/>
          </a:solidFill>
          <a:ln/>
        </p:spPr>
      </p:sp>
      <p:sp>
        <p:nvSpPr>
          <p:cNvPr id="4" name="Shape 2"/>
          <p:cNvSpPr/>
          <p:nvPr/>
        </p:nvSpPr>
        <p:spPr>
          <a:xfrm>
            <a:off x="777240" y="1097280"/>
            <a:ext cx="1645920" cy="329184"/>
          </a:xfrm>
          <a:prstGeom prst="rect">
            <a:avLst/>
          </a:prstGeom>
          <a:solidFill>
            <a:srgbClr val="CC3333"/>
          </a:solidFill>
          <a:ln/>
        </p:spPr>
      </p:sp>
      <p:sp>
        <p:nvSpPr>
          <p:cNvPr id="5" name="Text 3"/>
          <p:cNvSpPr/>
          <p:nvPr/>
        </p:nvSpPr>
        <p:spPr>
          <a:xfrm>
            <a:off x="777240" y="1097280"/>
            <a:ext cx="164592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緊急対応</a:t>
            </a:r>
            <a:endParaRPr lang="en-US" sz="1100" dirty="0"/>
          </a:p>
        </p:txBody>
      </p:sp>
      <p:sp>
        <p:nvSpPr>
          <p:cNvPr id="6" name="Text 4"/>
          <p:cNvSpPr/>
          <p:nvPr/>
        </p:nvSpPr>
        <p:spPr>
          <a:xfrm>
            <a:off x="777240" y="1508760"/>
            <a:ext cx="7863840" cy="169164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負荷テスト検知エラーを受けた</a:t>
            </a:r>
            <a:endParaRPr lang="en-US" sz="3400" dirty="0"/>
          </a:p>
          <a:p>
            <a:pPr indent="0" marL="0">
              <a:buNone/>
            </a:pPr>
            <a:r>
              <a:rPr lang="en-US" sz="3400" b="1" dirty="0">
                <a:solidFill>
                  <a:srgbClr val="FFFFFF"/>
                </a:solidFill>
                <a:latin typeface="Meiryo" pitchFamily="34" charset="0"/>
                <a:ea typeface="Meiryo" pitchFamily="34" charset="-122"/>
                <a:cs typeface="Meiryo" pitchFamily="34" charset="-120"/>
              </a:rPr>
              <a:t>アーキテクチャ改善提案</a:t>
            </a:r>
            <a:endParaRPr lang="en-US" sz="3400" dirty="0"/>
          </a:p>
        </p:txBody>
      </p:sp>
      <p:sp>
        <p:nvSpPr>
          <p:cNvPr id="7" name="Text 5"/>
          <p:cNvSpPr/>
          <p:nvPr/>
        </p:nvSpPr>
        <p:spPr>
          <a:xfrm>
            <a:off x="777240" y="3246120"/>
            <a:ext cx="7863840" cy="548640"/>
          </a:xfrm>
          <a:prstGeom prst="rect">
            <a:avLst/>
          </a:prstGeom>
          <a:noFill/>
          <a:ln/>
        </p:spPr>
        <p:txBody>
          <a:bodyPr wrap="square" lIns="0" tIns="0" rIns="0" bIns="0" rtlCol="0" anchor="ctr"/>
          <a:lstStyle/>
          <a:p>
            <a:pPr indent="0" marL="0">
              <a:buNone/>
            </a:pPr>
            <a:r>
              <a:rPr lang="en-US" sz="1500" dirty="0">
                <a:solidFill>
                  <a:srgbClr val="AACCEE"/>
                </a:solidFill>
                <a:latin typeface="Meiryo" pitchFamily="34" charset="0"/>
                <a:ea typeface="Meiryo" pitchFamily="34" charset="-122"/>
                <a:cs typeface="Meiryo" pitchFamily="34" charset="-120"/>
              </a:rPr>
              <a:t>同時接続500超でP99が5,400ms超過 — スケーラビリティ限界への対応策</a:t>
            </a:r>
            <a:endParaRPr lang="en-US" sz="1500" dirty="0"/>
          </a:p>
        </p:txBody>
      </p:sp>
      <p:sp>
        <p:nvSpPr>
          <p:cNvPr id="8" name="Text 6"/>
          <p:cNvSpPr/>
          <p:nvPr/>
        </p:nvSpPr>
        <p:spPr>
          <a:xfrm>
            <a:off x="777240" y="4114800"/>
            <a:ext cx="7863840" cy="411480"/>
          </a:xfrm>
          <a:prstGeom prst="rect">
            <a:avLst/>
          </a:prstGeom>
          <a:noFill/>
          <a:ln/>
        </p:spPr>
        <p:txBody>
          <a:bodyPr wrap="square" lIns="0" tIns="0" rIns="0" bIns="0" rtlCol="0" anchor="ctr"/>
          <a:lstStyle/>
          <a:p>
            <a:pPr indent="0" marL="0">
              <a:buNone/>
            </a:pPr>
            <a:r>
              <a:rPr lang="en-US" sz="1100" b="1" dirty="0">
                <a:solidFill>
                  <a:srgbClr val="7799BB"/>
                </a:solidFill>
                <a:latin typeface="Meiryo" pitchFamily="34" charset="0"/>
                <a:ea typeface="Meiryo" pitchFamily="34" charset="-122"/>
                <a:cs typeface="Meiryo" pitchFamily="34" charset="-120"/>
              </a:rPr>
              <a:t>対象: </a:t>
            </a:r>
            <a:pPr indent="0" marL="0">
              <a:buNone/>
            </a:pPr>
            <a:r>
              <a:rPr lang="en-US" sz="1100" dirty="0">
                <a:solidFill>
                  <a:srgbClr val="7799BB"/>
                </a:solidFill>
                <a:latin typeface="Meiryo" pitchFamily="34" charset="0"/>
                <a:ea typeface="Meiryo" pitchFamily="34" charset="-122"/>
                <a:cs typeface="Meiryo" pitchFamily="34" charset="-120"/>
              </a:rPr>
              <a:t>EM・CTOクラス　　</a:t>
            </a:r>
            <a:pPr indent="0" marL="0">
              <a:buNone/>
            </a:pPr>
            <a:r>
              <a:rPr lang="en-US" sz="1100" b="1" dirty="0">
                <a:solidFill>
                  <a:srgbClr val="7799BB"/>
                </a:solidFill>
                <a:latin typeface="Meiryo" pitchFamily="34" charset="0"/>
                <a:ea typeface="Meiryo" pitchFamily="34" charset="-122"/>
                <a:cs typeface="Meiryo" pitchFamily="34" charset="-120"/>
              </a:rPr>
              <a:t>日付: </a:t>
            </a:r>
            <a:pPr indent="0" marL="0">
              <a:buNone/>
            </a:pPr>
            <a:r>
              <a:rPr lang="en-US" sz="1100" dirty="0">
                <a:solidFill>
                  <a:srgbClr val="7799BB"/>
                </a:solidFill>
                <a:latin typeface="Meiryo" pitchFamily="34" charset="0"/>
                <a:ea typeface="Meiryo" pitchFamily="34" charset="-122"/>
                <a:cs typeface="Meiryo" pitchFamily="34" charset="-120"/>
              </a:rPr>
              <a:t>2026年3月4日　　</a:t>
            </a:r>
            <a:pPr indent="0" marL="0">
              <a:buNone/>
            </a:pPr>
            <a:r>
              <a:rPr lang="en-US" sz="1100" b="1" dirty="0">
                <a:solidFill>
                  <a:srgbClr val="7799BB"/>
                </a:solidFill>
                <a:latin typeface="Meiryo" pitchFamily="34" charset="0"/>
                <a:ea typeface="Meiryo" pitchFamily="34" charset="-122"/>
                <a:cs typeface="Meiryo" pitchFamily="34" charset="-120"/>
              </a:rPr>
              <a:t>提案: </a:t>
            </a:r>
            <a:pPr indent="0" marL="0">
              <a:buNone/>
            </a:pPr>
            <a:r>
              <a:rPr lang="en-US" sz="1100" dirty="0">
                <a:solidFill>
                  <a:srgbClr val="7799BB"/>
                </a:solidFill>
                <a:latin typeface="Meiryo" pitchFamily="34" charset="0"/>
                <a:ea typeface="Meiryo" pitchFamily="34" charset="-122"/>
                <a:cs typeface="Meiryo" pitchFamily="34" charset="-120"/>
              </a:rPr>
              <a:t>プラットフォームチーム</a:t>
            </a:r>
            <a:endParaRPr lang="en-US" sz="1100" dirty="0"/>
          </a:p>
        </p:txBody>
      </p:sp>
      <p:sp>
        <p:nvSpPr>
          <p:cNvPr id="9" name="Shape 7"/>
          <p:cNvSpPr/>
          <p:nvPr/>
        </p:nvSpPr>
        <p:spPr>
          <a:xfrm>
            <a:off x="0" y="4846320"/>
            <a:ext cx="9144000" cy="297180"/>
          </a:xfrm>
          <a:prstGeom prst="rect">
            <a:avLst/>
          </a:prstGeom>
          <a:solidFill>
            <a:srgbClr val="162840"/>
          </a:solidFill>
          <a:ln/>
        </p:spPr>
      </p:sp>
      <p:sp>
        <p:nvSpPr>
          <p:cNvPr id="10" name="Text 8"/>
          <p:cNvSpPr/>
          <p:nvPr/>
        </p:nvSpPr>
        <p:spPr>
          <a:xfrm>
            <a:off x="0" y="4846320"/>
            <a:ext cx="9144000" cy="297180"/>
          </a:xfrm>
          <a:prstGeom prst="rect">
            <a:avLst/>
          </a:prstGeom>
          <a:noFill/>
          <a:ln/>
        </p:spPr>
        <p:txBody>
          <a:bodyPr wrap="square" lIns="0" tIns="0" rIns="0" bIns="0" rtlCol="0" anchor="ctr"/>
          <a:lstStyle/>
          <a:p>
            <a:pPr algn="ctr" indent="0" marL="0">
              <a:buNone/>
            </a:pPr>
            <a:r>
              <a:rPr lang="en-US" sz="1000" dirty="0">
                <a:solidFill>
                  <a:srgbClr val="556677"/>
                </a:solidFill>
                <a:latin typeface="Meiryo" pitchFamily="34" charset="0"/>
                <a:ea typeface="Meiryo" pitchFamily="34" charset="-122"/>
                <a:cs typeface="Meiryo" pitchFamily="34" charset="-120"/>
              </a:rPr>
              <a:t>CONFIDENTIAL — Internal Use Only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p:spPr>
      </p:sp>
      <p:sp>
        <p:nvSpPr>
          <p:cNvPr id="3" name="Text 1"/>
          <p:cNvSpPr/>
          <p:nvPr/>
        </p:nvSpPr>
        <p:spPr>
          <a:xfrm>
            <a:off x="320040" y="91440"/>
            <a:ext cx="8229600" cy="59436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課題の概要 — エラー発生の連鎖</a:t>
            </a:r>
            <a:endParaRPr lang="en-US" sz="2400" dirty="0"/>
          </a:p>
        </p:txBody>
      </p:sp>
      <p:sp>
        <p:nvSpPr>
          <p:cNvPr id="4" name="Shape 2"/>
          <p:cNvSpPr/>
          <p:nvPr/>
        </p:nvSpPr>
        <p:spPr>
          <a:xfrm>
            <a:off x="320040" y="914400"/>
            <a:ext cx="2606040" cy="914400"/>
          </a:xfrm>
          <a:prstGeom prst="rect">
            <a:avLst/>
          </a:prstGeom>
          <a:solidFill>
            <a:srgbClr val="FFFFFF"/>
          </a:solidFill>
          <a:ln/>
          <a:effectLst>
            <a:outerShdw sx="100000" sy="100000" kx="0" ky="0" algn="bl" rotWithShape="0" blurRad="76200" dist="25400" dir="16200000">
              <a:srgbClr val="000000">
                <a:alpha val="15000"/>
              </a:srgbClr>
            </a:outerShdw>
          </a:effectLst>
        </p:spPr>
      </p:sp>
      <p:sp>
        <p:nvSpPr>
          <p:cNvPr id="5" name="Shape 3"/>
          <p:cNvSpPr/>
          <p:nvPr/>
        </p:nvSpPr>
        <p:spPr>
          <a:xfrm>
            <a:off x="320040" y="914400"/>
            <a:ext cx="2606040" cy="64008"/>
          </a:xfrm>
          <a:prstGeom prst="rect">
            <a:avLst/>
          </a:prstGeom>
          <a:solidFill>
            <a:srgbClr val="CC3333"/>
          </a:solidFill>
          <a:ln/>
        </p:spPr>
      </p:sp>
      <p:sp>
        <p:nvSpPr>
          <p:cNvPr id="6" name="Text 4"/>
          <p:cNvSpPr/>
          <p:nvPr/>
        </p:nvSpPr>
        <p:spPr>
          <a:xfrm>
            <a:off x="320040" y="978408"/>
            <a:ext cx="2606040" cy="530352"/>
          </a:xfrm>
          <a:prstGeom prst="rect">
            <a:avLst/>
          </a:prstGeom>
          <a:noFill/>
          <a:ln/>
        </p:spPr>
        <p:txBody>
          <a:bodyPr wrap="square" lIns="0" tIns="0" rIns="0" bIns="0" rtlCol="0" anchor="ctr"/>
          <a:lstStyle/>
          <a:p>
            <a:pPr algn="ctr" indent="0" marL="0">
              <a:buNone/>
            </a:pPr>
            <a:r>
              <a:rPr lang="en-US" sz="2800" b="1" dirty="0">
                <a:solidFill>
                  <a:srgbClr val="CC3333"/>
                </a:solidFill>
                <a:latin typeface="Meiryo" pitchFamily="34" charset="0"/>
                <a:ea typeface="Meiryo" pitchFamily="34" charset="-122"/>
                <a:cs typeface="Meiryo" pitchFamily="34" charset="-120"/>
              </a:rPr>
              <a:t>5,400ms</a:t>
            </a:r>
            <a:endParaRPr lang="en-US" sz="2800" dirty="0"/>
          </a:p>
        </p:txBody>
      </p:sp>
      <p:sp>
        <p:nvSpPr>
          <p:cNvPr id="7" name="Text 5"/>
          <p:cNvSpPr/>
          <p:nvPr/>
        </p:nvSpPr>
        <p:spPr>
          <a:xfrm>
            <a:off x="320040" y="1508760"/>
            <a:ext cx="2606040" cy="182880"/>
          </a:xfrm>
          <a:prstGeom prst="rect">
            <a:avLst/>
          </a:prstGeom>
          <a:noFill/>
          <a:ln/>
        </p:spPr>
        <p:txBody>
          <a:bodyPr wrap="square" lIns="0" tIns="0" rIns="0" bIns="0" rtlCol="0" anchor="ctr"/>
          <a:lstStyle/>
          <a:p>
            <a:pPr algn="ctr" indent="0" marL="0">
              <a:buNone/>
            </a:pPr>
            <a:r>
              <a:rPr lang="en-US" sz="1000" b="1" dirty="0">
                <a:solidFill>
                  <a:srgbClr val="333333"/>
                </a:solidFill>
                <a:latin typeface="Meiryo" pitchFamily="34" charset="0"/>
                <a:ea typeface="Meiryo" pitchFamily="34" charset="-122"/>
                <a:cs typeface="Meiryo" pitchFamily="34" charset="-120"/>
              </a:rPr>
              <a:t>P99レイテンシ @ 500接続</a:t>
            </a:r>
            <a:endParaRPr lang="en-US" sz="1000" dirty="0"/>
          </a:p>
        </p:txBody>
      </p:sp>
      <p:sp>
        <p:nvSpPr>
          <p:cNvPr id="8" name="Text 6"/>
          <p:cNvSpPr/>
          <p:nvPr/>
        </p:nvSpPr>
        <p:spPr>
          <a:xfrm>
            <a:off x="320040" y="1673352"/>
            <a:ext cx="2606040" cy="164592"/>
          </a:xfrm>
          <a:prstGeom prst="rect">
            <a:avLst/>
          </a:prstGeom>
          <a:noFill/>
          <a:ln/>
        </p:spPr>
        <p:txBody>
          <a:bodyPr wrap="square" lIns="0" tIns="0" rIns="0" bIns="0" rtlCol="0" anchor="ctr"/>
          <a:lstStyle/>
          <a:p>
            <a:pPr algn="ctr" indent="0" marL="0">
              <a:buNone/>
            </a:pPr>
            <a:r>
              <a:rPr lang="en-US" sz="900" dirty="0">
                <a:solidFill>
                  <a:srgbClr val="888888"/>
                </a:solidFill>
                <a:latin typeface="Meiryo" pitchFamily="34" charset="0"/>
                <a:ea typeface="Meiryo" pitchFamily="34" charset="-122"/>
                <a:cs typeface="Meiryo" pitchFamily="34" charset="-120"/>
              </a:rPr>
              <a:t>通常時120msの45倍</a:t>
            </a:r>
            <a:endParaRPr lang="en-US" sz="900" dirty="0"/>
          </a:p>
        </p:txBody>
      </p:sp>
      <p:sp>
        <p:nvSpPr>
          <p:cNvPr id="9" name="Shape 7"/>
          <p:cNvSpPr/>
          <p:nvPr/>
        </p:nvSpPr>
        <p:spPr>
          <a:xfrm>
            <a:off x="3154680" y="914400"/>
            <a:ext cx="2606040" cy="914400"/>
          </a:xfrm>
          <a:prstGeom prst="rect">
            <a:avLst/>
          </a:prstGeom>
          <a:solidFill>
            <a:srgbClr val="FFFFFF"/>
          </a:solidFill>
          <a:ln/>
          <a:effectLst>
            <a:outerShdw sx="100000" sy="100000" kx="0" ky="0" algn="bl" rotWithShape="0" blurRad="76200" dist="25400" dir="16200000">
              <a:srgbClr val="000000">
                <a:alpha val="15000"/>
              </a:srgbClr>
            </a:outerShdw>
          </a:effectLst>
        </p:spPr>
      </p:sp>
      <p:sp>
        <p:nvSpPr>
          <p:cNvPr id="10" name="Shape 8"/>
          <p:cNvSpPr/>
          <p:nvPr/>
        </p:nvSpPr>
        <p:spPr>
          <a:xfrm>
            <a:off x="3154680" y="914400"/>
            <a:ext cx="2606040" cy="64008"/>
          </a:xfrm>
          <a:prstGeom prst="rect">
            <a:avLst/>
          </a:prstGeom>
          <a:solidFill>
            <a:srgbClr val="C07000"/>
          </a:solidFill>
          <a:ln/>
        </p:spPr>
      </p:sp>
      <p:sp>
        <p:nvSpPr>
          <p:cNvPr id="11" name="Text 9"/>
          <p:cNvSpPr/>
          <p:nvPr/>
        </p:nvSpPr>
        <p:spPr>
          <a:xfrm>
            <a:off x="3154680" y="978408"/>
            <a:ext cx="2606040" cy="530352"/>
          </a:xfrm>
          <a:prstGeom prst="rect">
            <a:avLst/>
          </a:prstGeom>
          <a:noFill/>
          <a:ln/>
        </p:spPr>
        <p:txBody>
          <a:bodyPr wrap="square" lIns="0" tIns="0" rIns="0" bIns="0" rtlCol="0" anchor="ctr"/>
          <a:lstStyle/>
          <a:p>
            <a:pPr algn="ctr" indent="0" marL="0">
              <a:buNone/>
            </a:pPr>
            <a:r>
              <a:rPr lang="en-US" sz="2800" b="1" dirty="0">
                <a:solidFill>
                  <a:srgbClr val="C07000"/>
                </a:solidFill>
                <a:latin typeface="Meiryo" pitchFamily="34" charset="0"/>
                <a:ea typeface="Meiryo" pitchFamily="34" charset="-122"/>
                <a:cs typeface="Meiryo" pitchFamily="34" charset="-120"/>
              </a:rPr>
              <a:t>94%</a:t>
            </a:r>
            <a:endParaRPr lang="en-US" sz="2800" dirty="0"/>
          </a:p>
        </p:txBody>
      </p:sp>
      <p:sp>
        <p:nvSpPr>
          <p:cNvPr id="12" name="Text 10"/>
          <p:cNvSpPr/>
          <p:nvPr/>
        </p:nvSpPr>
        <p:spPr>
          <a:xfrm>
            <a:off x="3154680" y="1508760"/>
            <a:ext cx="2606040" cy="182880"/>
          </a:xfrm>
          <a:prstGeom prst="rect">
            <a:avLst/>
          </a:prstGeom>
          <a:noFill/>
          <a:ln/>
        </p:spPr>
        <p:txBody>
          <a:bodyPr wrap="square" lIns="0" tIns="0" rIns="0" bIns="0" rtlCol="0" anchor="ctr"/>
          <a:lstStyle/>
          <a:p>
            <a:pPr algn="ctr" indent="0" marL="0">
              <a:buNone/>
            </a:pPr>
            <a:r>
              <a:rPr lang="en-US" sz="1000" b="1" dirty="0">
                <a:solidFill>
                  <a:srgbClr val="333333"/>
                </a:solidFill>
                <a:latin typeface="Meiryo" pitchFamily="34" charset="0"/>
                <a:ea typeface="Meiryo" pitchFamily="34" charset="-122"/>
                <a:cs typeface="Meiryo" pitchFamily="34" charset="-120"/>
              </a:rPr>
              <a:t>DBピーク CPU使用率</a:t>
            </a:r>
            <a:endParaRPr lang="en-US" sz="1000" dirty="0"/>
          </a:p>
        </p:txBody>
      </p:sp>
      <p:sp>
        <p:nvSpPr>
          <p:cNvPr id="13" name="Text 11"/>
          <p:cNvSpPr/>
          <p:nvPr/>
        </p:nvSpPr>
        <p:spPr>
          <a:xfrm>
            <a:off x="3154680" y="1673352"/>
            <a:ext cx="2606040" cy="164592"/>
          </a:xfrm>
          <a:prstGeom prst="rect">
            <a:avLst/>
          </a:prstGeom>
          <a:noFill/>
          <a:ln/>
        </p:spPr>
        <p:txBody>
          <a:bodyPr wrap="square" lIns="0" tIns="0" rIns="0" bIns="0" rtlCol="0" anchor="ctr"/>
          <a:lstStyle/>
          <a:p>
            <a:pPr algn="ctr" indent="0" marL="0">
              <a:buNone/>
            </a:pPr>
            <a:r>
              <a:rPr lang="en-US" sz="900" dirty="0">
                <a:solidFill>
                  <a:srgbClr val="888888"/>
                </a:solidFill>
                <a:latin typeface="Meiryo" pitchFamily="34" charset="0"/>
                <a:ea typeface="Meiryo" pitchFamily="34" charset="-122"/>
                <a:cs typeface="Meiryo" pitchFamily="34" charset="-120"/>
              </a:rPr>
              <a:t>警告閾値: 80%超</a:t>
            </a:r>
            <a:endParaRPr lang="en-US" sz="900" dirty="0"/>
          </a:p>
        </p:txBody>
      </p:sp>
      <p:sp>
        <p:nvSpPr>
          <p:cNvPr id="14" name="Shape 12"/>
          <p:cNvSpPr/>
          <p:nvPr/>
        </p:nvSpPr>
        <p:spPr>
          <a:xfrm>
            <a:off x="5989320" y="914400"/>
            <a:ext cx="2606040" cy="914400"/>
          </a:xfrm>
          <a:prstGeom prst="rect">
            <a:avLst/>
          </a:prstGeom>
          <a:solidFill>
            <a:srgbClr val="FFFFFF"/>
          </a:solidFill>
          <a:ln/>
          <a:effectLst>
            <a:outerShdw sx="100000" sy="100000" kx="0" ky="0" algn="bl" rotWithShape="0" blurRad="76200" dist="25400" dir="16200000">
              <a:srgbClr val="000000">
                <a:alpha val="15000"/>
              </a:srgbClr>
            </a:outerShdw>
          </a:effectLst>
        </p:spPr>
      </p:sp>
      <p:sp>
        <p:nvSpPr>
          <p:cNvPr id="15" name="Shape 13"/>
          <p:cNvSpPr/>
          <p:nvPr/>
        </p:nvSpPr>
        <p:spPr>
          <a:xfrm>
            <a:off x="5989320" y="914400"/>
            <a:ext cx="2606040" cy="64008"/>
          </a:xfrm>
          <a:prstGeom prst="rect">
            <a:avLst/>
          </a:prstGeom>
          <a:solidFill>
            <a:srgbClr val="336699"/>
          </a:solidFill>
          <a:ln/>
        </p:spPr>
      </p:sp>
      <p:sp>
        <p:nvSpPr>
          <p:cNvPr id="16" name="Text 14"/>
          <p:cNvSpPr/>
          <p:nvPr/>
        </p:nvSpPr>
        <p:spPr>
          <a:xfrm>
            <a:off x="5989320" y="978408"/>
            <a:ext cx="2606040" cy="530352"/>
          </a:xfrm>
          <a:prstGeom prst="rect">
            <a:avLst/>
          </a:prstGeom>
          <a:noFill/>
          <a:ln/>
        </p:spPr>
        <p:txBody>
          <a:bodyPr wrap="square" lIns="0" tIns="0" rIns="0" bIns="0" rtlCol="0" anchor="ctr"/>
          <a:lstStyle/>
          <a:p>
            <a:pPr algn="ctr" indent="0" marL="0">
              <a:buNone/>
            </a:pPr>
            <a:r>
              <a:rPr lang="en-US" sz="2800" b="1" dirty="0">
                <a:solidFill>
                  <a:srgbClr val="336699"/>
                </a:solidFill>
                <a:latin typeface="Meiryo" pitchFamily="34" charset="0"/>
                <a:ea typeface="Meiryo" pitchFamily="34" charset="-122"/>
                <a:cs typeface="Meiryo" pitchFamily="34" charset="-120"/>
              </a:rPr>
              <a:t>2件</a:t>
            </a:r>
            <a:endParaRPr lang="en-US" sz="2800" dirty="0"/>
          </a:p>
        </p:txBody>
      </p:sp>
      <p:sp>
        <p:nvSpPr>
          <p:cNvPr id="17" name="Text 15"/>
          <p:cNvSpPr/>
          <p:nvPr/>
        </p:nvSpPr>
        <p:spPr>
          <a:xfrm>
            <a:off x="5989320" y="1508760"/>
            <a:ext cx="2606040" cy="182880"/>
          </a:xfrm>
          <a:prstGeom prst="rect">
            <a:avLst/>
          </a:prstGeom>
          <a:noFill/>
          <a:ln/>
        </p:spPr>
        <p:txBody>
          <a:bodyPr wrap="square" lIns="0" tIns="0" rIns="0" bIns="0" rtlCol="0" anchor="ctr"/>
          <a:lstStyle/>
          <a:p>
            <a:pPr algn="ctr" indent="0" marL="0">
              <a:buNone/>
            </a:pPr>
            <a:r>
              <a:rPr lang="en-US" sz="1000" b="1" dirty="0">
                <a:solidFill>
                  <a:srgbClr val="333333"/>
                </a:solidFill>
                <a:latin typeface="Meiryo" pitchFamily="34" charset="0"/>
                <a:ea typeface="Meiryo" pitchFamily="34" charset="-122"/>
                <a:cs typeface="Meiryo" pitchFamily="34" charset="-120"/>
              </a:rPr>
              <a:t>問題エンドポイント数</a:t>
            </a:r>
            <a:endParaRPr lang="en-US" sz="1000" dirty="0"/>
          </a:p>
        </p:txBody>
      </p:sp>
      <p:sp>
        <p:nvSpPr>
          <p:cNvPr id="18" name="Text 16"/>
          <p:cNvSpPr/>
          <p:nvPr/>
        </p:nvSpPr>
        <p:spPr>
          <a:xfrm>
            <a:off x="5989320" y="1673352"/>
            <a:ext cx="2606040" cy="164592"/>
          </a:xfrm>
          <a:prstGeom prst="rect">
            <a:avLst/>
          </a:prstGeom>
          <a:noFill/>
          <a:ln/>
        </p:spPr>
        <p:txBody>
          <a:bodyPr wrap="square" lIns="0" tIns="0" rIns="0" bIns="0" rtlCol="0" anchor="ctr"/>
          <a:lstStyle/>
          <a:p>
            <a:pPr algn="ctr" indent="0" marL="0">
              <a:buNone/>
            </a:pPr>
            <a:r>
              <a:rPr lang="en-US" sz="900" dirty="0">
                <a:solidFill>
                  <a:srgbClr val="888888"/>
                </a:solidFill>
                <a:latin typeface="Meiryo" pitchFamily="34" charset="0"/>
                <a:ea typeface="Meiryo" pitchFamily="34" charset="-122"/>
                <a:cs typeface="Meiryo" pitchFamily="34" charset="-120"/>
              </a:rPr>
              <a:t>検索API・ランキングAPI</a:t>
            </a:r>
            <a:endParaRPr lang="en-US" sz="900" dirty="0"/>
          </a:p>
        </p:txBody>
      </p:sp>
      <p:sp>
        <p:nvSpPr>
          <p:cNvPr id="19" name="Shape 17"/>
          <p:cNvSpPr/>
          <p:nvPr/>
        </p:nvSpPr>
        <p:spPr>
          <a:xfrm>
            <a:off x="1069848" y="1655064"/>
            <a:ext cx="329184" cy="329184"/>
          </a:xfrm>
          <a:prstGeom prst="ellipse">
            <a:avLst/>
          </a:prstGeom>
          <a:solidFill>
            <a:srgbClr val="336699"/>
          </a:solidFill>
          <a:ln/>
        </p:spPr>
      </p:sp>
      <p:sp>
        <p:nvSpPr>
          <p:cNvPr id="20" name="Text 18"/>
          <p:cNvSpPr/>
          <p:nvPr/>
        </p:nvSpPr>
        <p:spPr>
          <a:xfrm>
            <a:off x="1069848" y="1655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21" name="Shape 19"/>
          <p:cNvSpPr/>
          <p:nvPr/>
        </p:nvSpPr>
        <p:spPr>
          <a:xfrm>
            <a:off x="320040" y="2057400"/>
            <a:ext cx="1828800" cy="960120"/>
          </a:xfrm>
          <a:prstGeom prst="rect">
            <a:avLst/>
          </a:prstGeom>
          <a:solidFill>
            <a:srgbClr val="336699"/>
          </a:solidFill>
          <a:ln/>
          <a:effectLst>
            <a:outerShdw sx="100000" sy="100000" kx="0" ky="0" algn="bl" rotWithShape="0" blurRad="76200" dist="25400" dir="16200000">
              <a:srgbClr val="000000">
                <a:alpha val="15000"/>
              </a:srgbClr>
            </a:outerShdw>
          </a:effectLst>
        </p:spPr>
      </p:sp>
      <p:sp>
        <p:nvSpPr>
          <p:cNvPr id="22" name="Text 20"/>
          <p:cNvSpPr/>
          <p:nvPr/>
        </p:nvSpPr>
        <p:spPr>
          <a:xfrm>
            <a:off x="320040" y="2057400"/>
            <a:ext cx="1828800" cy="96012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API
リクエスト急増
</a:t>
            </a:r>
            <a:pPr algn="ctr" indent="0" marL="0">
              <a:buNone/>
            </a:pPr>
            <a:r>
              <a:rPr lang="en-US" sz="1000" dirty="0">
                <a:solidFill>
                  <a:srgbClr val="FFFFFF"/>
                </a:solidFill>
                <a:latin typeface="Meiryo" pitchFamily="34" charset="0"/>
                <a:ea typeface="Meiryo" pitchFamily="34" charset="-122"/>
                <a:cs typeface="Meiryo" pitchFamily="34" charset="-120"/>
              </a:rPr>
              <a:t>500+ 同時接続</a:t>
            </a:r>
            <a:endParaRPr lang="en-US" sz="1300" dirty="0"/>
          </a:p>
        </p:txBody>
      </p:sp>
      <p:sp>
        <p:nvSpPr>
          <p:cNvPr id="23" name="Shape 21"/>
          <p:cNvSpPr/>
          <p:nvPr/>
        </p:nvSpPr>
        <p:spPr>
          <a:xfrm>
            <a:off x="2176272" y="2537460"/>
            <a:ext cx="246888" cy="0"/>
          </a:xfrm>
          <a:prstGeom prst="line">
            <a:avLst/>
          </a:prstGeom>
          <a:noFill/>
          <a:ln w="25400">
            <a:solidFill>
              <a:srgbClr val="CC3333"/>
            </a:solidFill>
            <a:prstDash val="solid"/>
          </a:ln>
        </p:spPr>
      </p:sp>
      <p:sp>
        <p:nvSpPr>
          <p:cNvPr id="24" name="Text 22"/>
          <p:cNvSpPr/>
          <p:nvPr/>
        </p:nvSpPr>
        <p:spPr>
          <a:xfrm>
            <a:off x="2203704" y="2418588"/>
            <a:ext cx="246888" cy="237744"/>
          </a:xfrm>
          <a:prstGeom prst="rect">
            <a:avLst/>
          </a:prstGeom>
          <a:noFill/>
          <a:ln/>
        </p:spPr>
        <p:txBody>
          <a:bodyPr wrap="square" lIns="0" tIns="0" rIns="0" bIns="0" rtlCol="0" anchor="ctr"/>
          <a:lstStyle/>
          <a:p>
            <a:pPr algn="ctr" indent="0" marL="0">
              <a:buNone/>
            </a:pPr>
            <a:r>
              <a:rPr lang="en-US" sz="1100" dirty="0">
                <a:solidFill>
                  <a:srgbClr val="CC3333"/>
                </a:solidFill>
              </a:rPr>
              <a:t>▶</a:t>
            </a:r>
            <a:endParaRPr lang="en-US" sz="1100" dirty="0"/>
          </a:p>
        </p:txBody>
      </p:sp>
      <p:sp>
        <p:nvSpPr>
          <p:cNvPr id="25" name="Shape 23"/>
          <p:cNvSpPr/>
          <p:nvPr/>
        </p:nvSpPr>
        <p:spPr>
          <a:xfrm>
            <a:off x="3200400" y="1655064"/>
            <a:ext cx="329184" cy="329184"/>
          </a:xfrm>
          <a:prstGeom prst="ellipse">
            <a:avLst/>
          </a:prstGeom>
          <a:solidFill>
            <a:srgbClr val="336699"/>
          </a:solidFill>
          <a:ln/>
        </p:spPr>
      </p:sp>
      <p:sp>
        <p:nvSpPr>
          <p:cNvPr id="26" name="Text 24"/>
          <p:cNvSpPr/>
          <p:nvPr/>
        </p:nvSpPr>
        <p:spPr>
          <a:xfrm>
            <a:off x="3200400" y="1655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27" name="Shape 25"/>
          <p:cNvSpPr/>
          <p:nvPr/>
        </p:nvSpPr>
        <p:spPr>
          <a:xfrm>
            <a:off x="2450592" y="2057400"/>
            <a:ext cx="1828800" cy="960120"/>
          </a:xfrm>
          <a:prstGeom prst="rect">
            <a:avLst/>
          </a:prstGeom>
          <a:solidFill>
            <a:srgbClr val="8B2020"/>
          </a:solidFill>
          <a:ln/>
          <a:effectLst>
            <a:outerShdw sx="100000" sy="100000" kx="0" ky="0" algn="bl" rotWithShape="0" blurRad="76200" dist="25400" dir="16200000">
              <a:srgbClr val="000000">
                <a:alpha val="15000"/>
              </a:srgbClr>
            </a:outerShdw>
          </a:effectLst>
        </p:spPr>
      </p:sp>
      <p:sp>
        <p:nvSpPr>
          <p:cNvPr id="28" name="Text 26"/>
          <p:cNvSpPr/>
          <p:nvPr/>
        </p:nvSpPr>
        <p:spPr>
          <a:xfrm>
            <a:off x="2450592" y="2057400"/>
            <a:ext cx="1828800" cy="96012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DB直接
クエリ集中
</a:t>
            </a:r>
            <a:pPr algn="ctr" indent="0" marL="0">
              <a:buNone/>
            </a:pPr>
            <a:r>
              <a:rPr lang="en-US" sz="1000" dirty="0">
                <a:solidFill>
                  <a:srgbClr val="FFFFFF"/>
                </a:solidFill>
                <a:latin typeface="Meiryo" pitchFamily="34" charset="0"/>
                <a:ea typeface="Meiryo" pitchFamily="34" charset="-122"/>
                <a:cs typeface="Meiryo" pitchFamily="34" charset="-120"/>
              </a:rPr>
              <a:t>全API → 同一DB</a:t>
            </a:r>
            <a:endParaRPr lang="en-US" sz="1300" dirty="0"/>
          </a:p>
        </p:txBody>
      </p:sp>
      <p:sp>
        <p:nvSpPr>
          <p:cNvPr id="29" name="Shape 27"/>
          <p:cNvSpPr/>
          <p:nvPr/>
        </p:nvSpPr>
        <p:spPr>
          <a:xfrm>
            <a:off x="4306824" y="2537460"/>
            <a:ext cx="246888" cy="0"/>
          </a:xfrm>
          <a:prstGeom prst="line">
            <a:avLst/>
          </a:prstGeom>
          <a:noFill/>
          <a:ln w="25400">
            <a:solidFill>
              <a:srgbClr val="CC3333"/>
            </a:solidFill>
            <a:prstDash val="solid"/>
          </a:ln>
        </p:spPr>
      </p:sp>
      <p:sp>
        <p:nvSpPr>
          <p:cNvPr id="30" name="Text 28"/>
          <p:cNvSpPr/>
          <p:nvPr/>
        </p:nvSpPr>
        <p:spPr>
          <a:xfrm>
            <a:off x="4334256" y="2418588"/>
            <a:ext cx="246888" cy="237744"/>
          </a:xfrm>
          <a:prstGeom prst="rect">
            <a:avLst/>
          </a:prstGeom>
          <a:noFill/>
          <a:ln/>
        </p:spPr>
        <p:txBody>
          <a:bodyPr wrap="square" lIns="0" tIns="0" rIns="0" bIns="0" rtlCol="0" anchor="ctr"/>
          <a:lstStyle/>
          <a:p>
            <a:pPr algn="ctr" indent="0" marL="0">
              <a:buNone/>
            </a:pPr>
            <a:r>
              <a:rPr lang="en-US" sz="1100" dirty="0">
                <a:solidFill>
                  <a:srgbClr val="CC3333"/>
                </a:solidFill>
              </a:rPr>
              <a:t>▶</a:t>
            </a:r>
            <a:endParaRPr lang="en-US" sz="1100" dirty="0"/>
          </a:p>
        </p:txBody>
      </p:sp>
      <p:sp>
        <p:nvSpPr>
          <p:cNvPr id="31" name="Shape 29"/>
          <p:cNvSpPr/>
          <p:nvPr/>
        </p:nvSpPr>
        <p:spPr>
          <a:xfrm>
            <a:off x="5330952" y="1655064"/>
            <a:ext cx="329184" cy="329184"/>
          </a:xfrm>
          <a:prstGeom prst="ellipse">
            <a:avLst/>
          </a:prstGeom>
          <a:solidFill>
            <a:srgbClr val="336699"/>
          </a:solidFill>
          <a:ln/>
        </p:spPr>
      </p:sp>
      <p:sp>
        <p:nvSpPr>
          <p:cNvPr id="32" name="Text 30"/>
          <p:cNvSpPr/>
          <p:nvPr/>
        </p:nvSpPr>
        <p:spPr>
          <a:xfrm>
            <a:off x="5330952" y="1655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33" name="Shape 31"/>
          <p:cNvSpPr/>
          <p:nvPr/>
        </p:nvSpPr>
        <p:spPr>
          <a:xfrm>
            <a:off x="4581144" y="2057400"/>
            <a:ext cx="1828800" cy="960120"/>
          </a:xfrm>
          <a:prstGeom prst="rect">
            <a:avLst/>
          </a:prstGeom>
          <a:solidFill>
            <a:srgbClr val="CC3333"/>
          </a:solidFill>
          <a:ln/>
          <a:effectLst>
            <a:outerShdw sx="100000" sy="100000" kx="0" ky="0" algn="bl" rotWithShape="0" blurRad="76200" dist="25400" dir="16200000">
              <a:srgbClr val="000000">
                <a:alpha val="15000"/>
              </a:srgbClr>
            </a:outerShdw>
          </a:effectLst>
        </p:spPr>
      </p:sp>
      <p:sp>
        <p:nvSpPr>
          <p:cNvPr id="34" name="Text 32"/>
          <p:cNvSpPr/>
          <p:nvPr/>
        </p:nvSpPr>
        <p:spPr>
          <a:xfrm>
            <a:off x="4581144" y="2057400"/>
            <a:ext cx="1828800" cy="96012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コネクション
プール枯渇
</a:t>
            </a:r>
            <a:pPr algn="ctr" indent="0" marL="0">
              <a:buNone/>
            </a:pPr>
            <a:r>
              <a:rPr lang="en-US" sz="1000" dirty="0">
                <a:solidFill>
                  <a:srgbClr val="FFFFFF"/>
                </a:solidFill>
                <a:latin typeface="Meiryo" pitchFamily="34" charset="0"/>
                <a:ea typeface="Meiryo" pitchFamily="34" charset="-122"/>
                <a:cs typeface="Meiryo" pitchFamily="34" charset="-120"/>
              </a:rPr>
              <a:t>上限100接続を突破</a:t>
            </a:r>
            <a:endParaRPr lang="en-US" sz="1300" dirty="0"/>
          </a:p>
        </p:txBody>
      </p:sp>
      <p:sp>
        <p:nvSpPr>
          <p:cNvPr id="35" name="Shape 33"/>
          <p:cNvSpPr/>
          <p:nvPr/>
        </p:nvSpPr>
        <p:spPr>
          <a:xfrm>
            <a:off x="6437376" y="2537460"/>
            <a:ext cx="246888" cy="0"/>
          </a:xfrm>
          <a:prstGeom prst="line">
            <a:avLst/>
          </a:prstGeom>
          <a:noFill/>
          <a:ln w="25400">
            <a:solidFill>
              <a:srgbClr val="CC3333"/>
            </a:solidFill>
            <a:prstDash val="solid"/>
          </a:ln>
        </p:spPr>
      </p:sp>
      <p:sp>
        <p:nvSpPr>
          <p:cNvPr id="36" name="Text 34"/>
          <p:cNvSpPr/>
          <p:nvPr/>
        </p:nvSpPr>
        <p:spPr>
          <a:xfrm>
            <a:off x="6464808" y="2418588"/>
            <a:ext cx="246888" cy="237744"/>
          </a:xfrm>
          <a:prstGeom prst="rect">
            <a:avLst/>
          </a:prstGeom>
          <a:noFill/>
          <a:ln/>
        </p:spPr>
        <p:txBody>
          <a:bodyPr wrap="square" lIns="0" tIns="0" rIns="0" bIns="0" rtlCol="0" anchor="ctr"/>
          <a:lstStyle/>
          <a:p>
            <a:pPr algn="ctr" indent="0" marL="0">
              <a:buNone/>
            </a:pPr>
            <a:r>
              <a:rPr lang="en-US" sz="1100" dirty="0">
                <a:solidFill>
                  <a:srgbClr val="CC3333"/>
                </a:solidFill>
              </a:rPr>
              <a:t>▶</a:t>
            </a:r>
            <a:endParaRPr lang="en-US" sz="1100" dirty="0"/>
          </a:p>
        </p:txBody>
      </p:sp>
      <p:sp>
        <p:nvSpPr>
          <p:cNvPr id="37" name="Shape 35"/>
          <p:cNvSpPr/>
          <p:nvPr/>
        </p:nvSpPr>
        <p:spPr>
          <a:xfrm>
            <a:off x="7461504" y="1655064"/>
            <a:ext cx="329184" cy="329184"/>
          </a:xfrm>
          <a:prstGeom prst="ellipse">
            <a:avLst/>
          </a:prstGeom>
          <a:solidFill>
            <a:srgbClr val="336699"/>
          </a:solidFill>
          <a:ln/>
        </p:spPr>
      </p:sp>
      <p:sp>
        <p:nvSpPr>
          <p:cNvPr id="38" name="Text 36"/>
          <p:cNvSpPr/>
          <p:nvPr/>
        </p:nvSpPr>
        <p:spPr>
          <a:xfrm>
            <a:off x="7461504" y="1655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39" name="Shape 37"/>
          <p:cNvSpPr/>
          <p:nvPr/>
        </p:nvSpPr>
        <p:spPr>
          <a:xfrm>
            <a:off x="6711696" y="2057400"/>
            <a:ext cx="1828800" cy="960120"/>
          </a:xfrm>
          <a:prstGeom prst="rect">
            <a:avLst/>
          </a:prstGeom>
          <a:solidFill>
            <a:srgbClr val="4A0A0A"/>
          </a:solidFill>
          <a:ln/>
          <a:effectLst>
            <a:outerShdw sx="100000" sy="100000" kx="0" ky="0" algn="bl" rotWithShape="0" blurRad="76200" dist="25400" dir="16200000">
              <a:srgbClr val="000000">
                <a:alpha val="15000"/>
              </a:srgbClr>
            </a:outerShdw>
          </a:effectLst>
        </p:spPr>
      </p:sp>
      <p:sp>
        <p:nvSpPr>
          <p:cNvPr id="40" name="Text 38"/>
          <p:cNvSpPr/>
          <p:nvPr/>
        </p:nvSpPr>
        <p:spPr>
          <a:xfrm>
            <a:off x="6711696" y="2057400"/>
            <a:ext cx="1828800" cy="96012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タイムアウト
発生
</a:t>
            </a:r>
            <a:pPr algn="ctr" indent="0" marL="0">
              <a:buNone/>
            </a:pPr>
            <a:r>
              <a:rPr lang="en-US" sz="1000" dirty="0">
                <a:solidFill>
                  <a:srgbClr val="FFFFFF"/>
                </a:solidFill>
                <a:latin typeface="Meiryo" pitchFamily="34" charset="0"/>
                <a:ea typeface="Meiryo" pitchFamily="34" charset="-122"/>
                <a:cs typeface="Meiryo" pitchFamily="34" charset="-120"/>
              </a:rPr>
              <a:t>P99 &gt; 5,400ms</a:t>
            </a:r>
            <a:endParaRPr lang="en-US" sz="1300" dirty="0"/>
          </a:p>
        </p:txBody>
      </p:sp>
      <p:sp>
        <p:nvSpPr>
          <p:cNvPr id="41" name="Shape 39"/>
          <p:cNvSpPr/>
          <p:nvPr/>
        </p:nvSpPr>
        <p:spPr>
          <a:xfrm>
            <a:off x="320040" y="3200400"/>
            <a:ext cx="8503920" cy="1664208"/>
          </a:xfrm>
          <a:prstGeom prst="rect">
            <a:avLst/>
          </a:prstGeom>
          <a:solidFill>
            <a:srgbClr val="EAF2FA"/>
          </a:solidFill>
          <a:ln w="12700">
            <a:solidFill>
              <a:srgbClr val="336699"/>
            </a:solidFill>
            <a:prstDash val="solid"/>
          </a:ln>
        </p:spPr>
      </p:sp>
      <p:sp>
        <p:nvSpPr>
          <p:cNvPr id="42" name="Text 40"/>
          <p:cNvSpPr/>
          <p:nvPr/>
        </p:nvSpPr>
        <p:spPr>
          <a:xfrm>
            <a:off x="457200" y="3273552"/>
            <a:ext cx="3200400" cy="310896"/>
          </a:xfrm>
          <a:prstGeom prst="rect">
            <a:avLst/>
          </a:prstGeom>
          <a:noFill/>
          <a:ln/>
        </p:spPr>
        <p:txBody>
          <a:bodyPr wrap="square" lIns="0" tIns="0" rIns="0" bIns="0" rtlCol="0" anchor="ctr"/>
          <a:lstStyle/>
          <a:p>
            <a:pPr indent="0" marL="0">
              <a:buNone/>
            </a:pPr>
            <a:r>
              <a:rPr lang="en-US" sz="1300" b="1" dirty="0">
                <a:solidFill>
                  <a:srgbClr val="336699"/>
                </a:solidFill>
                <a:latin typeface="Meiryo" pitchFamily="34" charset="0"/>
                <a:ea typeface="Meiryo" pitchFamily="34" charset="-122"/>
                <a:cs typeface="Meiryo" pitchFamily="34" charset="-120"/>
              </a:rPr>
              <a:t>根本原因と背景</a:t>
            </a:r>
            <a:endParaRPr lang="en-US" sz="1300" dirty="0"/>
          </a:p>
        </p:txBody>
      </p:sp>
      <p:sp>
        <p:nvSpPr>
          <p:cNvPr id="43" name="Text 41"/>
          <p:cNvSpPr/>
          <p:nvPr/>
        </p:nvSpPr>
        <p:spPr>
          <a:xfrm>
            <a:off x="457200" y="3602736"/>
            <a:ext cx="8229600" cy="1170432"/>
          </a:xfrm>
          <a:prstGeom prst="rect">
            <a:avLst/>
          </a:prstGeom>
          <a:noFill/>
          <a:ln/>
        </p:spPr>
        <p:txBody>
          <a:bodyPr wrap="square" rtlCol="0" anchor="ctr"/>
          <a:lstStyle/>
          <a:p>
            <a:pPr marL="342900" indent="-342900">
              <a:spcAft>
                <a:spcPts val="400"/>
              </a:spcAft>
              <a:buSzPct val="100000"/>
              <a:buChar char="•"/>
            </a:pPr>
            <a:r>
              <a:rPr lang="en-US" sz="1200" dirty="0">
                <a:solidFill>
                  <a:srgbClr val="333333"/>
                </a:solidFill>
                <a:latin typeface="Meiryo" pitchFamily="34" charset="0"/>
                <a:ea typeface="Meiryo" pitchFamily="34" charset="-122"/>
                <a:cs typeface="Meiryo" pitchFamily="34" charset="-120"/>
              </a:rPr>
              <a:t>モノリシック構成で全APIが同一DBコネクションプールを同期共有（上限100接続）</a:t>
            </a:r>
            <a:endParaRPr lang="en-US" sz="1200" dirty="0"/>
          </a:p>
          <a:p>
            <a:pPr marL="342900" indent="-342900">
              <a:spcAft>
                <a:spcPts val="400"/>
              </a:spcAft>
              <a:buSzPct val="100000"/>
              <a:buChar char="•"/>
            </a:pPr>
            <a:r>
              <a:rPr lang="en-US" sz="1200" dirty="0">
                <a:solidFill>
                  <a:srgbClr val="333333"/>
                </a:solidFill>
                <a:latin typeface="Meiryo" pitchFamily="34" charset="0"/>
                <a:ea typeface="Meiryo" pitchFamily="34" charset="-122"/>
                <a:cs typeface="Meiryo" pitchFamily="34" charset="-120"/>
              </a:rPr>
              <a:t>バッチ処理（夜間集計）とリアルタイムAPIが同一DBを競合使用し干渉が常態化</a:t>
            </a:r>
            <a:endParaRPr lang="en-US" sz="1200" dirty="0"/>
          </a:p>
          <a:p>
            <a:pPr marL="342900" indent="-342900">
              <a:spcAft>
                <a:spcPts val="400"/>
              </a:spcAft>
              <a:buSzPct val="100000"/>
              <a:buChar char="•"/>
            </a:pPr>
            <a:r>
              <a:rPr lang="en-US" sz="1200" dirty="0">
                <a:solidFill>
                  <a:srgbClr val="333333"/>
                </a:solidFill>
                <a:latin typeface="Meiryo" pitchFamily="34" charset="0"/>
                <a:ea typeface="Meiryo" pitchFamily="34" charset="-122"/>
                <a:cs typeface="Meiryo" pitchFamily="34" charset="-120"/>
              </a:rPr>
              <a:t>2025年Q3レビュー（architecture-review-2025Q3）でも同課題を指摘済み → 予算都合で延期</a:t>
            </a:r>
            <a:endParaRPr lang="en-US" sz="1200" dirty="0"/>
          </a:p>
          <a:p>
            <a:pPr marL="342900" indent="-342900">
              <a:spcAft>
                <a:spcPts val="400"/>
              </a:spcAft>
              <a:buSzPct val="100000"/>
              <a:buChar char="•"/>
            </a:pPr>
            <a:r>
              <a:rPr lang="en-US" sz="1200" dirty="0">
                <a:solidFill>
                  <a:srgbClr val="333333"/>
                </a:solidFill>
                <a:latin typeface="Meiryo" pitchFamily="34" charset="0"/>
                <a:ea typeface="Meiryo" pitchFamily="34" charset="-122"/>
                <a:cs typeface="Meiryo" pitchFamily="34" charset="-120"/>
              </a:rPr>
              <a:t>本番トラフィックスパイク時に同現象が再現するリスクが極めて高い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p:spPr>
      </p:sp>
      <p:sp>
        <p:nvSpPr>
          <p:cNvPr id="3" name="Text 1"/>
          <p:cNvSpPr/>
          <p:nvPr/>
        </p:nvSpPr>
        <p:spPr>
          <a:xfrm>
            <a:off x="320040" y="91440"/>
            <a:ext cx="8229600" cy="59436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アーキテクチャ比較 — Before / After</a:t>
            </a:r>
            <a:endParaRPr lang="en-US" sz="2400" dirty="0"/>
          </a:p>
        </p:txBody>
      </p:sp>
      <p:sp>
        <p:nvSpPr>
          <p:cNvPr id="4" name="Shape 2"/>
          <p:cNvSpPr/>
          <p:nvPr/>
        </p:nvSpPr>
        <p:spPr>
          <a:xfrm>
            <a:off x="228600" y="914400"/>
            <a:ext cx="3931920" cy="384048"/>
          </a:xfrm>
          <a:prstGeom prst="rect">
            <a:avLst/>
          </a:prstGeom>
          <a:solidFill>
            <a:srgbClr val="CC3333"/>
          </a:solidFill>
          <a:ln/>
        </p:spPr>
      </p:sp>
      <p:sp>
        <p:nvSpPr>
          <p:cNvPr id="5" name="Text 3"/>
          <p:cNvSpPr/>
          <p:nvPr/>
        </p:nvSpPr>
        <p:spPr>
          <a:xfrm>
            <a:off x="228600" y="914400"/>
            <a:ext cx="3931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BEFORE — 現行構成（問題あり）</a:t>
            </a:r>
            <a:endParaRPr lang="en-US" sz="1300" dirty="0"/>
          </a:p>
        </p:txBody>
      </p:sp>
      <p:sp>
        <p:nvSpPr>
          <p:cNvPr id="6" name="Shape 4"/>
          <p:cNvSpPr/>
          <p:nvPr/>
        </p:nvSpPr>
        <p:spPr>
          <a:xfrm>
            <a:off x="4983480" y="914400"/>
            <a:ext cx="3931920" cy="384048"/>
          </a:xfrm>
          <a:prstGeom prst="rect">
            <a:avLst/>
          </a:prstGeom>
          <a:solidFill>
            <a:srgbClr val="2E7D32"/>
          </a:solidFill>
          <a:ln/>
        </p:spPr>
      </p:sp>
      <p:sp>
        <p:nvSpPr>
          <p:cNvPr id="7" name="Text 5"/>
          <p:cNvSpPr/>
          <p:nvPr/>
        </p:nvSpPr>
        <p:spPr>
          <a:xfrm>
            <a:off x="4983480" y="914400"/>
            <a:ext cx="393192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AFTER — 改善後構成（案A）</a:t>
            </a:r>
            <a:endParaRPr lang="en-US" sz="1300" dirty="0"/>
          </a:p>
        </p:txBody>
      </p:sp>
      <p:sp>
        <p:nvSpPr>
          <p:cNvPr id="8" name="Text 6"/>
          <p:cNvSpPr/>
          <p:nvPr/>
        </p:nvSpPr>
        <p:spPr>
          <a:xfrm>
            <a:off x="4206240" y="2377440"/>
            <a:ext cx="731520" cy="411480"/>
          </a:xfrm>
          <a:prstGeom prst="rect">
            <a:avLst/>
          </a:prstGeom>
          <a:noFill/>
          <a:ln/>
        </p:spPr>
        <p:txBody>
          <a:bodyPr wrap="square" lIns="0" tIns="0" rIns="0" bIns="0" rtlCol="0" anchor="ctr"/>
          <a:lstStyle/>
          <a:p>
            <a:pPr algn="ctr" indent="0" marL="0">
              <a:buNone/>
            </a:pPr>
            <a:r>
              <a:rPr lang="en-US" sz="1800" b="1" dirty="0">
                <a:solidFill>
                  <a:srgbClr val="888888"/>
                </a:solidFill>
                <a:latin typeface="Meiryo" pitchFamily="34" charset="0"/>
                <a:ea typeface="Meiryo" pitchFamily="34" charset="-122"/>
                <a:cs typeface="Meiryo" pitchFamily="34" charset="-120"/>
              </a:rPr>
              <a:t>VS</a:t>
            </a:r>
            <a:endParaRPr lang="en-US" sz="1800" dirty="0"/>
          </a:p>
        </p:txBody>
      </p:sp>
      <p:sp>
        <p:nvSpPr>
          <p:cNvPr id="9" name="Shape 7"/>
          <p:cNvSpPr/>
          <p:nvPr/>
        </p:nvSpPr>
        <p:spPr>
          <a:xfrm>
            <a:off x="320040" y="1417320"/>
            <a:ext cx="3657600" cy="594360"/>
          </a:xfrm>
          <a:prstGeom prst="rect">
            <a:avLst/>
          </a:prstGeom>
          <a:solidFill>
            <a:srgbClr val="336699"/>
          </a:solidFill>
          <a:ln/>
          <a:effectLst>
            <a:outerShdw sx="100000" sy="100000" kx="0" ky="0" algn="bl" rotWithShape="0" blurRad="76200" dist="25400" dir="16200000">
              <a:srgbClr val="000000">
                <a:alpha val="15000"/>
              </a:srgbClr>
            </a:outerShdw>
          </a:effectLst>
        </p:spPr>
      </p:sp>
      <p:sp>
        <p:nvSpPr>
          <p:cNvPr id="10" name="Text 8"/>
          <p:cNvSpPr/>
          <p:nvPr/>
        </p:nvSpPr>
        <p:spPr>
          <a:xfrm>
            <a:off x="320040" y="1417320"/>
            <a:ext cx="365760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Client / API Gateway</a:t>
            </a:r>
            <a:endParaRPr lang="en-US" sz="1200" dirty="0"/>
          </a:p>
        </p:txBody>
      </p:sp>
      <p:sp>
        <p:nvSpPr>
          <p:cNvPr id="11" name="Shape 9"/>
          <p:cNvSpPr/>
          <p:nvPr/>
        </p:nvSpPr>
        <p:spPr>
          <a:xfrm>
            <a:off x="2148840" y="2011680"/>
            <a:ext cx="0" cy="274320"/>
          </a:xfrm>
          <a:prstGeom prst="line">
            <a:avLst/>
          </a:prstGeom>
          <a:noFill/>
          <a:ln w="25400">
            <a:solidFill>
              <a:srgbClr val="7799BB"/>
            </a:solidFill>
            <a:prstDash val="solid"/>
          </a:ln>
        </p:spPr>
      </p:sp>
      <p:sp>
        <p:nvSpPr>
          <p:cNvPr id="12" name="Text 10"/>
          <p:cNvSpPr/>
          <p:nvPr/>
        </p:nvSpPr>
        <p:spPr>
          <a:xfrm>
            <a:off x="2011680" y="2212848"/>
            <a:ext cx="274320" cy="164592"/>
          </a:xfrm>
          <a:prstGeom prst="rect">
            <a:avLst/>
          </a:prstGeom>
          <a:noFill/>
          <a:ln/>
        </p:spPr>
        <p:txBody>
          <a:bodyPr wrap="square" lIns="0" tIns="0" rIns="0" bIns="0" rtlCol="0" anchor="ctr"/>
          <a:lstStyle/>
          <a:p>
            <a:pPr algn="ctr" indent="0" marL="0">
              <a:buNone/>
            </a:pPr>
            <a:r>
              <a:rPr lang="en-US" sz="1000" dirty="0">
                <a:solidFill>
                  <a:srgbClr val="7799BB"/>
                </a:solidFill>
              </a:rPr>
              <a:t>▼</a:t>
            </a:r>
            <a:endParaRPr lang="en-US" sz="1000" dirty="0"/>
          </a:p>
        </p:txBody>
      </p:sp>
      <p:sp>
        <p:nvSpPr>
          <p:cNvPr id="13" name="Shape 11"/>
          <p:cNvSpPr/>
          <p:nvPr/>
        </p:nvSpPr>
        <p:spPr>
          <a:xfrm>
            <a:off x="320040" y="2377440"/>
            <a:ext cx="3657600" cy="594360"/>
          </a:xfrm>
          <a:prstGeom prst="rect">
            <a:avLst/>
          </a:prstGeom>
          <a:solidFill>
            <a:srgbClr val="2C5080"/>
          </a:solidFill>
          <a:ln/>
          <a:effectLst>
            <a:outerShdw sx="100000" sy="100000" kx="0" ky="0" algn="bl" rotWithShape="0" blurRad="76200" dist="25400" dir="16200000">
              <a:srgbClr val="000000">
                <a:alpha val="15000"/>
              </a:srgbClr>
            </a:outerShdw>
          </a:effectLst>
        </p:spPr>
      </p:sp>
      <p:sp>
        <p:nvSpPr>
          <p:cNvPr id="14" name="Text 12"/>
          <p:cNvSpPr/>
          <p:nvPr/>
        </p:nvSpPr>
        <p:spPr>
          <a:xfrm>
            <a:off x="320040" y="2377440"/>
            <a:ext cx="365760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Monolith App Server ×3</a:t>
            </a:r>
            <a:endParaRPr lang="en-US" sz="1200" dirty="0"/>
          </a:p>
        </p:txBody>
      </p:sp>
      <p:sp>
        <p:nvSpPr>
          <p:cNvPr id="15" name="Shape 13"/>
          <p:cNvSpPr/>
          <p:nvPr/>
        </p:nvSpPr>
        <p:spPr>
          <a:xfrm>
            <a:off x="2148840" y="2971800"/>
            <a:ext cx="0" cy="274320"/>
          </a:xfrm>
          <a:prstGeom prst="line">
            <a:avLst/>
          </a:prstGeom>
          <a:noFill/>
          <a:ln w="25400">
            <a:solidFill>
              <a:srgbClr val="CC3333"/>
            </a:solidFill>
            <a:prstDash val="solid"/>
          </a:ln>
        </p:spPr>
      </p:sp>
      <p:sp>
        <p:nvSpPr>
          <p:cNvPr id="16" name="Text 14"/>
          <p:cNvSpPr/>
          <p:nvPr/>
        </p:nvSpPr>
        <p:spPr>
          <a:xfrm>
            <a:off x="2011680" y="3172968"/>
            <a:ext cx="274320" cy="164592"/>
          </a:xfrm>
          <a:prstGeom prst="rect">
            <a:avLst/>
          </a:prstGeom>
          <a:noFill/>
          <a:ln/>
        </p:spPr>
        <p:txBody>
          <a:bodyPr wrap="square" lIns="0" tIns="0" rIns="0" bIns="0" rtlCol="0" anchor="ctr"/>
          <a:lstStyle/>
          <a:p>
            <a:pPr algn="ctr" indent="0" marL="0">
              <a:buNone/>
            </a:pPr>
            <a:r>
              <a:rPr lang="en-US" sz="1000" dirty="0">
                <a:solidFill>
                  <a:srgbClr val="CC3333"/>
                </a:solidFill>
              </a:rPr>
              <a:t>▼</a:t>
            </a:r>
            <a:endParaRPr lang="en-US" sz="1000" dirty="0"/>
          </a:p>
        </p:txBody>
      </p:sp>
      <p:sp>
        <p:nvSpPr>
          <p:cNvPr id="17" name="Shape 15"/>
          <p:cNvSpPr/>
          <p:nvPr/>
        </p:nvSpPr>
        <p:spPr>
          <a:xfrm>
            <a:off x="320040" y="3337560"/>
            <a:ext cx="3657600" cy="594360"/>
          </a:xfrm>
          <a:prstGeom prst="rect">
            <a:avLst/>
          </a:prstGeom>
          <a:solidFill>
            <a:srgbClr val="CC3333"/>
          </a:solidFill>
          <a:ln w="38100">
            <a:solidFill>
              <a:srgbClr val="FF8888"/>
            </a:solidFill>
            <a:prstDash val="solid"/>
          </a:ln>
          <a:effectLst>
            <a:outerShdw sx="100000" sy="100000" kx="0" ky="0" algn="bl" rotWithShape="0" blurRad="76200" dist="25400" dir="16200000">
              <a:srgbClr val="000000">
                <a:alpha val="15000"/>
              </a:srgbClr>
            </a:outerShdw>
          </a:effectLst>
        </p:spPr>
      </p:sp>
      <p:sp>
        <p:nvSpPr>
          <p:cNvPr id="18" name="Text 16"/>
          <p:cNvSpPr/>
          <p:nvPr/>
        </p:nvSpPr>
        <p:spPr>
          <a:xfrm>
            <a:off x="320040" y="3337560"/>
            <a:ext cx="365760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PostgreSQL</a:t>
            </a:r>
            <a:endParaRPr lang="en-US" sz="1200" dirty="0"/>
          </a:p>
          <a:p>
            <a:pPr algn="ctr" indent="0" marL="0">
              <a:buNone/>
            </a:pPr>
            <a:r>
              <a:rPr lang="en-US" sz="1200" b="1" dirty="0">
                <a:solidFill>
                  <a:srgbClr val="FFFFFF"/>
                </a:solidFill>
                <a:latin typeface="Meiryo" pitchFamily="34" charset="0"/>
                <a:ea typeface="Meiryo" pitchFamily="34" charset="-122"/>
                <a:cs typeface="Meiryo" pitchFamily="34" charset="-120"/>
              </a:rPr>
              <a:t>⚠ 単一インスタンス</a:t>
            </a:r>
            <a:endParaRPr lang="en-US" sz="1200" dirty="0"/>
          </a:p>
        </p:txBody>
      </p:sp>
      <p:sp>
        <p:nvSpPr>
          <p:cNvPr id="19" name="Text 17"/>
          <p:cNvSpPr/>
          <p:nvPr/>
        </p:nvSpPr>
        <p:spPr>
          <a:xfrm>
            <a:off x="320040" y="4069080"/>
            <a:ext cx="3657600" cy="320040"/>
          </a:xfrm>
          <a:prstGeom prst="rect">
            <a:avLst/>
          </a:prstGeom>
          <a:noFill/>
          <a:ln/>
        </p:spPr>
        <p:txBody>
          <a:bodyPr wrap="square" lIns="0" tIns="0" rIns="0" bIns="0" rtlCol="0" anchor="ctr"/>
          <a:lstStyle/>
          <a:p>
            <a:pPr algn="ctr" indent="0" marL="0">
              <a:buNone/>
            </a:pPr>
            <a:r>
              <a:rPr lang="en-US" sz="1100" dirty="0">
                <a:solidFill>
                  <a:srgbClr val="CC3333"/>
                </a:solidFill>
                <a:latin typeface="Meiryo" pitchFamily="34" charset="0"/>
                <a:ea typeface="Meiryo" pitchFamily="34" charset="-122"/>
                <a:cs typeface="Meiryo" pitchFamily="34" charset="-120"/>
              </a:rPr>
              <a:t>全クエリがDBに直撃 → コネクション枯渇</a:t>
            </a:r>
            <a:endParaRPr lang="en-US" sz="1100" dirty="0"/>
          </a:p>
        </p:txBody>
      </p:sp>
      <p:sp>
        <p:nvSpPr>
          <p:cNvPr id="20" name="Shape 18"/>
          <p:cNvSpPr/>
          <p:nvPr/>
        </p:nvSpPr>
        <p:spPr>
          <a:xfrm>
            <a:off x="5074920" y="1417320"/>
            <a:ext cx="3749040" cy="594360"/>
          </a:xfrm>
          <a:prstGeom prst="rect">
            <a:avLst/>
          </a:prstGeom>
          <a:solidFill>
            <a:srgbClr val="336699"/>
          </a:solidFill>
          <a:ln/>
          <a:effectLst>
            <a:outerShdw sx="100000" sy="100000" kx="0" ky="0" algn="bl" rotWithShape="0" blurRad="76200" dist="25400" dir="16200000">
              <a:srgbClr val="000000">
                <a:alpha val="15000"/>
              </a:srgbClr>
            </a:outerShdw>
          </a:effectLst>
        </p:spPr>
      </p:sp>
      <p:sp>
        <p:nvSpPr>
          <p:cNvPr id="21" name="Text 19"/>
          <p:cNvSpPr/>
          <p:nvPr/>
        </p:nvSpPr>
        <p:spPr>
          <a:xfrm>
            <a:off x="5074920" y="1417320"/>
            <a:ext cx="374904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Client / API Gateway</a:t>
            </a:r>
            <a:endParaRPr lang="en-US" sz="1200" dirty="0"/>
          </a:p>
        </p:txBody>
      </p:sp>
      <p:sp>
        <p:nvSpPr>
          <p:cNvPr id="22" name="Shape 20"/>
          <p:cNvSpPr/>
          <p:nvPr/>
        </p:nvSpPr>
        <p:spPr>
          <a:xfrm>
            <a:off x="5074920" y="2377440"/>
            <a:ext cx="3749040" cy="594360"/>
          </a:xfrm>
          <a:prstGeom prst="rect">
            <a:avLst/>
          </a:prstGeom>
          <a:solidFill>
            <a:srgbClr val="2C5080"/>
          </a:solidFill>
          <a:ln/>
          <a:effectLst>
            <a:outerShdw sx="100000" sy="100000" kx="0" ky="0" algn="bl" rotWithShape="0" blurRad="76200" dist="25400" dir="16200000">
              <a:srgbClr val="000000">
                <a:alpha val="15000"/>
              </a:srgbClr>
            </a:outerShdw>
          </a:effectLst>
        </p:spPr>
      </p:sp>
      <p:sp>
        <p:nvSpPr>
          <p:cNvPr id="23" name="Text 21"/>
          <p:cNvSpPr/>
          <p:nvPr/>
        </p:nvSpPr>
        <p:spPr>
          <a:xfrm>
            <a:off x="5074920" y="2377440"/>
            <a:ext cx="374904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Monolith App Server ×3</a:t>
            </a:r>
            <a:endParaRPr lang="en-US" sz="1200" dirty="0"/>
          </a:p>
        </p:txBody>
      </p:sp>
      <p:sp>
        <p:nvSpPr>
          <p:cNvPr id="24" name="Shape 22"/>
          <p:cNvSpPr/>
          <p:nvPr/>
        </p:nvSpPr>
        <p:spPr>
          <a:xfrm>
            <a:off x="6949440" y="2971800"/>
            <a:ext cx="0" cy="237744"/>
          </a:xfrm>
          <a:prstGeom prst="line">
            <a:avLst/>
          </a:prstGeom>
          <a:noFill/>
          <a:ln w="25400">
            <a:solidFill>
              <a:srgbClr val="7799BB"/>
            </a:solidFill>
            <a:prstDash val="solid"/>
          </a:ln>
        </p:spPr>
      </p:sp>
      <p:sp>
        <p:nvSpPr>
          <p:cNvPr id="25" name="Text 23"/>
          <p:cNvSpPr/>
          <p:nvPr/>
        </p:nvSpPr>
        <p:spPr>
          <a:xfrm>
            <a:off x="6812280" y="3136392"/>
            <a:ext cx="274320" cy="164592"/>
          </a:xfrm>
          <a:prstGeom prst="rect">
            <a:avLst/>
          </a:prstGeom>
          <a:noFill/>
          <a:ln/>
        </p:spPr>
        <p:txBody>
          <a:bodyPr wrap="square" lIns="0" tIns="0" rIns="0" bIns="0" rtlCol="0" anchor="ctr"/>
          <a:lstStyle/>
          <a:p>
            <a:pPr algn="ctr" indent="0" marL="0">
              <a:buNone/>
            </a:pPr>
            <a:r>
              <a:rPr lang="en-US" sz="1000" dirty="0">
                <a:solidFill>
                  <a:srgbClr val="7799BB"/>
                </a:solidFill>
              </a:rPr>
              <a:t>▼</a:t>
            </a:r>
            <a:endParaRPr lang="en-US" sz="1000" dirty="0"/>
          </a:p>
        </p:txBody>
      </p:sp>
      <p:sp>
        <p:nvSpPr>
          <p:cNvPr id="26" name="Shape 24"/>
          <p:cNvSpPr/>
          <p:nvPr/>
        </p:nvSpPr>
        <p:spPr>
          <a:xfrm>
            <a:off x="5074920" y="3255264"/>
            <a:ext cx="1737360" cy="566928"/>
          </a:xfrm>
          <a:prstGeom prst="rect">
            <a:avLst/>
          </a:prstGeom>
          <a:solidFill>
            <a:srgbClr val="DC6014"/>
          </a:solidFill>
          <a:ln/>
          <a:effectLst>
            <a:outerShdw sx="100000" sy="100000" kx="0" ky="0" algn="bl" rotWithShape="0" blurRad="76200" dist="25400" dir="16200000">
              <a:srgbClr val="000000">
                <a:alpha val="15000"/>
              </a:srgbClr>
            </a:outerShdw>
          </a:effectLst>
        </p:spPr>
      </p:sp>
      <p:sp>
        <p:nvSpPr>
          <p:cNvPr id="27" name="Text 25"/>
          <p:cNvSpPr/>
          <p:nvPr/>
        </p:nvSpPr>
        <p:spPr>
          <a:xfrm>
            <a:off x="5074920" y="3255264"/>
            <a:ext cx="173736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Redis</a:t>
            </a:r>
            <a:endParaRPr lang="en-US" sz="1100" dirty="0"/>
          </a:p>
          <a:p>
            <a:pPr algn="ctr" indent="0" marL="0">
              <a:buNone/>
            </a:pPr>
            <a:r>
              <a:rPr lang="en-US" sz="1100" b="1" dirty="0">
                <a:solidFill>
                  <a:srgbClr val="FFFFFF"/>
                </a:solidFill>
                <a:latin typeface="Meiryo" pitchFamily="34" charset="0"/>
                <a:ea typeface="Meiryo" pitchFamily="34" charset="-122"/>
                <a:cs typeface="Meiryo" pitchFamily="34" charset="-120"/>
              </a:rPr>
              <a:t>キャッシュ</a:t>
            </a:r>
            <a:endParaRPr lang="en-US" sz="1100" dirty="0"/>
          </a:p>
        </p:txBody>
      </p:sp>
      <p:sp>
        <p:nvSpPr>
          <p:cNvPr id="28" name="Shape 26"/>
          <p:cNvSpPr/>
          <p:nvPr/>
        </p:nvSpPr>
        <p:spPr>
          <a:xfrm>
            <a:off x="7086600" y="3255264"/>
            <a:ext cx="1737360" cy="566928"/>
          </a:xfrm>
          <a:prstGeom prst="rect">
            <a:avLst/>
          </a:prstGeom>
          <a:solidFill>
            <a:srgbClr val="7B35A0"/>
          </a:solidFill>
          <a:ln/>
          <a:effectLst>
            <a:outerShdw sx="100000" sy="100000" kx="0" ky="0" algn="bl" rotWithShape="0" blurRad="76200" dist="25400" dir="16200000">
              <a:srgbClr val="000000">
                <a:alpha val="15000"/>
              </a:srgbClr>
            </a:outerShdw>
          </a:effectLst>
        </p:spPr>
      </p:sp>
      <p:sp>
        <p:nvSpPr>
          <p:cNvPr id="29" name="Text 27"/>
          <p:cNvSpPr/>
          <p:nvPr/>
        </p:nvSpPr>
        <p:spPr>
          <a:xfrm>
            <a:off x="7086600" y="3255264"/>
            <a:ext cx="173736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SQS</a:t>
            </a:r>
            <a:endParaRPr lang="en-US" sz="1100" dirty="0"/>
          </a:p>
          <a:p>
            <a:pPr algn="ctr" indent="0" marL="0">
              <a:buNone/>
            </a:pPr>
            <a:r>
              <a:rPr lang="en-US" sz="1100" b="1" dirty="0">
                <a:solidFill>
                  <a:srgbClr val="FFFFFF"/>
                </a:solidFill>
                <a:latin typeface="Meiryo" pitchFamily="34" charset="0"/>
                <a:ea typeface="Meiryo" pitchFamily="34" charset="-122"/>
                <a:cs typeface="Meiryo" pitchFamily="34" charset="-120"/>
              </a:rPr>
              <a:t>非同期キュー</a:t>
            </a:r>
            <a:endParaRPr lang="en-US" sz="1100" dirty="0"/>
          </a:p>
        </p:txBody>
      </p:sp>
      <p:sp>
        <p:nvSpPr>
          <p:cNvPr id="30" name="Shape 28"/>
          <p:cNvSpPr/>
          <p:nvPr/>
        </p:nvSpPr>
        <p:spPr>
          <a:xfrm>
            <a:off x="5943600" y="3822192"/>
            <a:ext cx="0" cy="182880"/>
          </a:xfrm>
          <a:prstGeom prst="line">
            <a:avLst/>
          </a:prstGeom>
          <a:noFill/>
          <a:ln w="25400">
            <a:solidFill>
              <a:srgbClr val="DC6014"/>
            </a:solidFill>
            <a:prstDash val="solid"/>
          </a:ln>
        </p:spPr>
      </p:sp>
      <p:sp>
        <p:nvSpPr>
          <p:cNvPr id="31" name="Shape 29"/>
          <p:cNvSpPr/>
          <p:nvPr/>
        </p:nvSpPr>
        <p:spPr>
          <a:xfrm>
            <a:off x="7955280" y="3822192"/>
            <a:ext cx="0" cy="182880"/>
          </a:xfrm>
          <a:prstGeom prst="line">
            <a:avLst/>
          </a:prstGeom>
          <a:noFill/>
          <a:ln w="25400">
            <a:solidFill>
              <a:srgbClr val="7B35A0"/>
            </a:solidFill>
            <a:prstDash val="solid"/>
          </a:ln>
        </p:spPr>
      </p:sp>
      <p:sp>
        <p:nvSpPr>
          <p:cNvPr id="32" name="Shape 30"/>
          <p:cNvSpPr/>
          <p:nvPr/>
        </p:nvSpPr>
        <p:spPr>
          <a:xfrm>
            <a:off x="5074920" y="4005072"/>
            <a:ext cx="3749040" cy="548640"/>
          </a:xfrm>
          <a:prstGeom prst="rect">
            <a:avLst/>
          </a:prstGeom>
          <a:solidFill>
            <a:srgbClr val="2E7D32"/>
          </a:solidFill>
          <a:ln/>
          <a:effectLst>
            <a:outerShdw sx="100000" sy="100000" kx="0" ky="0" algn="bl" rotWithShape="0" blurRad="76200" dist="25400" dir="16200000">
              <a:srgbClr val="000000">
                <a:alpha val="15000"/>
              </a:srgbClr>
            </a:outerShdw>
          </a:effectLst>
        </p:spPr>
      </p:sp>
      <p:sp>
        <p:nvSpPr>
          <p:cNvPr id="33" name="Text 31"/>
          <p:cNvSpPr/>
          <p:nvPr/>
        </p:nvSpPr>
        <p:spPr>
          <a:xfrm>
            <a:off x="5074920" y="4005072"/>
            <a:ext cx="37490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PostgreSQL（負荷最大70%削減）</a:t>
            </a:r>
            <a:endParaRPr lang="en-US" sz="1200" dirty="0"/>
          </a:p>
        </p:txBody>
      </p:sp>
      <p:sp>
        <p:nvSpPr>
          <p:cNvPr id="34" name="Text 32"/>
          <p:cNvSpPr/>
          <p:nvPr/>
        </p:nvSpPr>
        <p:spPr>
          <a:xfrm>
            <a:off x="5074920" y="4590288"/>
            <a:ext cx="3749040" cy="292608"/>
          </a:xfrm>
          <a:prstGeom prst="rect">
            <a:avLst/>
          </a:prstGeom>
          <a:noFill/>
          <a:ln/>
        </p:spPr>
        <p:txBody>
          <a:bodyPr wrap="square" lIns="0" tIns="0" rIns="0" bIns="0" rtlCol="0" anchor="ctr"/>
          <a:lstStyle/>
          <a:p>
            <a:pPr algn="ctr" indent="0" marL="0">
              <a:buNone/>
            </a:pPr>
            <a:r>
              <a:rPr lang="en-US" sz="1100" dirty="0">
                <a:solidFill>
                  <a:srgbClr val="2E7D32"/>
                </a:solidFill>
                <a:latin typeface="Meiryo" pitchFamily="34" charset="0"/>
                <a:ea typeface="Meiryo" pitchFamily="34" charset="-122"/>
                <a:cs typeface="Meiryo" pitchFamily="34" charset="-120"/>
              </a:rPr>
              <a:t>DB負荷大幅軽減 → スケーラビリティ確保</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p:spPr>
      </p:sp>
      <p:sp>
        <p:nvSpPr>
          <p:cNvPr id="3" name="Text 1"/>
          <p:cNvSpPr/>
          <p:nvPr/>
        </p:nvSpPr>
        <p:spPr>
          <a:xfrm>
            <a:off x="320040" y="91440"/>
            <a:ext cx="8229600" cy="59436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対応案の比較マトリクス</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914400"/>
          <a:ext cx="8503920" cy="4023360"/>
        </p:xfrm>
        <a:graphic>
          <a:graphicData uri="http://schemas.openxmlformats.org/drawingml/2006/table">
            <a:tbl>
              <a:tblPr/>
              <a:tblGrid>
                <a:gridCol w="2011680"/>
                <a:gridCol w="2167128"/>
                <a:gridCol w="2167128"/>
                <a:gridCol w="2157984"/>
              </a:tblGrid>
              <a:tr h="512064">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評価軸</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案A: Redis + SQS（推奨）</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5C1A"/>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案B: Read Replica</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336699"/>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案C: マイクロサービス分割</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55555"/>
                    </a:solidFill>
                  </a:tcPr>
                </a:tc>
              </a:tr>
              <a:tr h="512064">
                <a:tc>
                  <a:txBody>
                    <a:bodyPr/>
                    <a:lstStyle/>
                    <a:p>
                      <a:pPr algn="ctr" indent="0" marL="0">
                        <a:buNone/>
                      </a:pPr>
                      <a:r>
                        <a:rPr lang="en-US" sz="1200" b="1" dirty="0">
                          <a:solidFill>
                            <a:srgbClr val="000000"/>
                          </a:solidFill>
                          <a:latin typeface="Meiryo" pitchFamily="34" charset="0"/>
                          <a:ea typeface="Meiryo" pitchFamily="34" charset="-122"/>
                          <a:cs typeface="Meiryo" pitchFamily="34" charset="-120"/>
                        </a:rPr>
                        <a:t>DB負荷削減効果</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F2FA"/>
                    </a:solidFill>
                  </a:tcPr>
                </a:tc>
                <a:tc>
                  <a:txBody>
                    <a:bodyPr/>
                    <a:lstStyle/>
                    <a:p>
                      <a:pPr algn="ctr" indent="0" marL="0">
                        <a:buNone/>
                      </a:pPr>
                      <a:r>
                        <a:rPr lang="en-US" sz="1200" b="1" dirty="0">
                          <a:solidFill>
                            <a:srgbClr val="1A5C1A"/>
                          </a:solidFill>
                          <a:latin typeface="Meiryo" pitchFamily="34" charset="0"/>
                          <a:ea typeface="Meiryo" pitchFamily="34" charset="-122"/>
                          <a:cs typeface="Meiryo" pitchFamily="34" charset="-120"/>
                        </a:rPr>
                        <a:t>◎ 最大70%削減</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E8"/>
                    </a:solidFill>
                  </a:tcPr>
                </a:tc>
                <a:tc>
                  <a:txBody>
                    <a:bodyPr/>
                    <a:lstStyle/>
                    <a:p>
                      <a:pPr algn="ctr" indent="0" marL="0">
                        <a:buNone/>
                      </a:pPr>
                      <a:r>
                        <a:rPr lang="en-US" sz="1200" dirty="0">
                          <a:solidFill>
                            <a:srgbClr val="336699"/>
                          </a:solidFill>
                          <a:latin typeface="Meiryo" pitchFamily="34" charset="0"/>
                          <a:ea typeface="Meiryo" pitchFamily="34" charset="-122"/>
                          <a:cs typeface="Meiryo" pitchFamily="34" charset="-120"/>
                        </a:rPr>
                        <a:t>○ 約40%削減</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6FF"/>
                    </a:solidFill>
                  </a:tcPr>
                </a:tc>
                <a:tc>
                  <a:txBody>
                    <a:bodyPr/>
                    <a:lstStyle/>
                    <a:p>
                      <a:pPr algn="ctr" indent="0" marL="0">
                        <a:buNone/>
                      </a:pPr>
                      <a:r>
                        <a:rPr lang="en-US" sz="1200" dirty="0">
                          <a:solidFill>
                            <a:srgbClr val="555555"/>
                          </a:solidFill>
                          <a:latin typeface="Meiryo" pitchFamily="34" charset="0"/>
                          <a:ea typeface="Meiryo" pitchFamily="34" charset="-122"/>
                          <a:cs typeface="Meiryo" pitchFamily="34" charset="-120"/>
                        </a:rPr>
                        <a:t>◎ 根本解決</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r h="512064">
                <a:tc>
                  <a:txBody>
                    <a:bodyPr/>
                    <a:lstStyle/>
                    <a:p>
                      <a:pPr algn="ctr" indent="0" marL="0">
                        <a:buNone/>
                      </a:pPr>
                      <a:r>
                        <a:rPr lang="en-US" sz="1200" b="1" dirty="0">
                          <a:solidFill>
                            <a:srgbClr val="000000"/>
                          </a:solidFill>
                          <a:latin typeface="Meiryo" pitchFamily="34" charset="0"/>
                          <a:ea typeface="Meiryo" pitchFamily="34" charset="-122"/>
                          <a:cs typeface="Meiryo" pitchFamily="34" charset="-120"/>
                        </a:rPr>
                        <a:t>対応スピード</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F2FA"/>
                    </a:solidFill>
                  </a:tcPr>
                </a:tc>
                <a:tc>
                  <a:txBody>
                    <a:bodyPr/>
                    <a:lstStyle/>
                    <a:p>
                      <a:pPr algn="ctr" indent="0" marL="0">
                        <a:buNone/>
                      </a:pPr>
                      <a:r>
                        <a:rPr lang="en-US" sz="1200" dirty="0">
                          <a:solidFill>
                            <a:srgbClr val="1A5C1A"/>
                          </a:solidFill>
                          <a:latin typeface="Meiryo" pitchFamily="34" charset="0"/>
                          <a:ea typeface="Meiryo" pitchFamily="34" charset="-122"/>
                          <a:cs typeface="Meiryo" pitchFamily="34" charset="-120"/>
                        </a:rPr>
                        <a:t>○ 3〜4週間</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E8"/>
                    </a:solidFill>
                  </a:tcPr>
                </a:tc>
                <a:tc>
                  <a:txBody>
                    <a:bodyPr/>
                    <a:lstStyle/>
                    <a:p>
                      <a:pPr algn="ctr" indent="0" marL="0">
                        <a:buNone/>
                      </a:pPr>
                      <a:r>
                        <a:rPr lang="en-US" sz="1200" b="1" dirty="0">
                          <a:solidFill>
                            <a:srgbClr val="336699"/>
                          </a:solidFill>
                          <a:latin typeface="Meiryo" pitchFamily="34" charset="0"/>
                          <a:ea typeface="Meiryo" pitchFamily="34" charset="-122"/>
                          <a:cs typeface="Meiryo" pitchFamily="34" charset="-120"/>
                        </a:rPr>
                        <a:t>◎ 1〜2週間</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6FF"/>
                    </a:solidFill>
                  </a:tcPr>
                </a:tc>
                <a:tc>
                  <a:txBody>
                    <a:bodyPr/>
                    <a:lstStyle/>
                    <a:p>
                      <a:pPr algn="ctr" indent="0" marL="0">
                        <a:buNone/>
                      </a:pPr>
                      <a:r>
                        <a:rPr lang="en-US" sz="1200" dirty="0">
                          <a:solidFill>
                            <a:srgbClr val="CC3333"/>
                          </a:solidFill>
                          <a:latin typeface="Meiryo" pitchFamily="34" charset="0"/>
                          <a:ea typeface="Meiryo" pitchFamily="34" charset="-122"/>
                          <a:cs typeface="Meiryo" pitchFamily="34" charset="-120"/>
                        </a:rPr>
                        <a:t>× 数ヶ月以上</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0F0"/>
                    </a:solidFill>
                  </a:tcPr>
                </a:tc>
              </a:tr>
              <a:tr h="512064">
                <a:tc>
                  <a:txBody>
                    <a:bodyPr/>
                    <a:lstStyle/>
                    <a:p>
                      <a:pPr algn="ctr" indent="0" marL="0">
                        <a:buNone/>
                      </a:pPr>
                      <a:r>
                        <a:rPr lang="en-US" sz="1200" b="1" dirty="0">
                          <a:solidFill>
                            <a:srgbClr val="000000"/>
                          </a:solidFill>
                          <a:latin typeface="Meiryo" pitchFamily="34" charset="0"/>
                          <a:ea typeface="Meiryo" pitchFamily="34" charset="-122"/>
                          <a:cs typeface="Meiryo" pitchFamily="34" charset="-120"/>
                        </a:rPr>
                        <a:t>コスト</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F2FA"/>
                    </a:solidFill>
                  </a:tcPr>
                </a:tc>
                <a:tc>
                  <a:txBody>
                    <a:bodyPr/>
                    <a:lstStyle/>
                    <a:p>
                      <a:pPr algn="ctr" indent="0" marL="0">
                        <a:buNone/>
                      </a:pPr>
                      <a:r>
                        <a:rPr lang="en-US" sz="1200" dirty="0">
                          <a:solidFill>
                            <a:srgbClr val="1A5C1A"/>
                          </a:solidFill>
                          <a:latin typeface="Meiryo" pitchFamily="34" charset="0"/>
                          <a:ea typeface="Meiryo" pitchFamily="34" charset="-122"/>
                          <a:cs typeface="Meiryo" pitchFamily="34" charset="-120"/>
                        </a:rPr>
                        <a:t>○ $150/月</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E8"/>
                    </a:solidFill>
                  </a:tcPr>
                </a:tc>
                <a:tc>
                  <a:txBody>
                    <a:bodyPr/>
                    <a:lstStyle/>
                    <a:p>
                      <a:pPr algn="ctr" indent="0" marL="0">
                        <a:buNone/>
                      </a:pPr>
                      <a:r>
                        <a:rPr lang="en-US" sz="1200" dirty="0">
                          <a:solidFill>
                            <a:srgbClr val="336699"/>
                          </a:solidFill>
                          <a:latin typeface="Meiryo" pitchFamily="34" charset="0"/>
                          <a:ea typeface="Meiryo" pitchFamily="34" charset="-122"/>
                          <a:cs typeface="Meiryo" pitchFamily="34" charset="-120"/>
                        </a:rPr>
                        <a:t>△ $200/月</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6FF"/>
                    </a:solidFill>
                  </a:tcPr>
                </a:tc>
                <a:tc>
                  <a:txBody>
                    <a:bodyPr/>
                    <a:lstStyle/>
                    <a:p>
                      <a:pPr algn="ctr" indent="0" marL="0">
                        <a:buNone/>
                      </a:pPr>
                      <a:r>
                        <a:rPr lang="en-US" sz="1200" dirty="0">
                          <a:solidFill>
                            <a:srgbClr val="555555"/>
                          </a:solidFill>
                          <a:latin typeface="Meiryo" pitchFamily="34" charset="0"/>
                          <a:ea typeface="Meiryo" pitchFamily="34" charset="-122"/>
                          <a:cs typeface="Meiryo" pitchFamily="34" charset="-120"/>
                        </a:rPr>
                        <a:t>△ 大規模改修費</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r h="512064">
                <a:tc>
                  <a:txBody>
                    <a:bodyPr/>
                    <a:lstStyle/>
                    <a:p>
                      <a:pPr algn="ctr" indent="0" marL="0">
                        <a:buNone/>
                      </a:pPr>
                      <a:r>
                        <a:rPr lang="en-US" sz="1200" b="1" dirty="0">
                          <a:solidFill>
                            <a:srgbClr val="000000"/>
                          </a:solidFill>
                          <a:latin typeface="Meiryo" pitchFamily="34" charset="0"/>
                          <a:ea typeface="Meiryo" pitchFamily="34" charset="-122"/>
                          <a:cs typeface="Meiryo" pitchFamily="34" charset="-120"/>
                        </a:rPr>
                        <a:t>スケーラビリティ</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F2FA"/>
                    </a:solidFill>
                  </a:tcPr>
                </a:tc>
                <a:tc>
                  <a:txBody>
                    <a:bodyPr/>
                    <a:lstStyle/>
                    <a:p>
                      <a:pPr algn="ctr" indent="0" marL="0">
                        <a:buNone/>
                      </a:pPr>
                      <a:r>
                        <a:rPr lang="en-US" sz="1200" dirty="0">
                          <a:solidFill>
                            <a:srgbClr val="1A5C1A"/>
                          </a:solidFill>
                          <a:latin typeface="Meiryo" pitchFamily="34" charset="0"/>
                          <a:ea typeface="Meiryo" pitchFamily="34" charset="-122"/>
                          <a:cs typeface="Meiryo" pitchFamily="34" charset="-120"/>
                        </a:rPr>
                        <a:t>◎ 将来拡張対応</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E8"/>
                    </a:solidFill>
                  </a:tcPr>
                </a:tc>
                <a:tc>
                  <a:txBody>
                    <a:bodyPr/>
                    <a:lstStyle/>
                    <a:p>
                      <a:pPr algn="ctr" indent="0" marL="0">
                        <a:buNone/>
                      </a:pPr>
                      <a:r>
                        <a:rPr lang="en-US" sz="1200" dirty="0">
                          <a:solidFill>
                            <a:srgbClr val="C07000"/>
                          </a:solidFill>
                          <a:latin typeface="Meiryo" pitchFamily="34" charset="0"/>
                          <a:ea typeface="Meiryo" pitchFamily="34" charset="-122"/>
                          <a:cs typeface="Meiryo" pitchFamily="34" charset="-120"/>
                        </a:rPr>
                        <a:t>△ 書込みは限界</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8E0"/>
                    </a:solidFill>
                  </a:tcPr>
                </a:tc>
                <a:tc>
                  <a:txBody>
                    <a:bodyPr/>
                    <a:lstStyle/>
                    <a:p>
                      <a:pPr algn="ctr" indent="0" marL="0">
                        <a:buNone/>
                      </a:pPr>
                      <a:r>
                        <a:rPr lang="en-US" sz="1200" dirty="0">
                          <a:solidFill>
                            <a:srgbClr val="555555"/>
                          </a:solidFill>
                          <a:latin typeface="Meiryo" pitchFamily="34" charset="0"/>
                          <a:ea typeface="Meiryo" pitchFamily="34" charset="-122"/>
                          <a:cs typeface="Meiryo" pitchFamily="34" charset="-120"/>
                        </a:rPr>
                        <a:t>◎ 最高水準</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F5F5"/>
                    </a:solidFill>
                  </a:tcPr>
                </a:tc>
              </a:tr>
              <a:tr h="512064">
                <a:tc>
                  <a:txBody>
                    <a:bodyPr/>
                    <a:lstStyle/>
                    <a:p>
                      <a:pPr algn="ctr" indent="0" marL="0">
                        <a:buNone/>
                      </a:pPr>
                      <a:r>
                        <a:rPr lang="en-US" sz="1200" b="1" dirty="0">
                          <a:solidFill>
                            <a:srgbClr val="000000"/>
                          </a:solidFill>
                          <a:latin typeface="Meiryo" pitchFamily="34" charset="0"/>
                          <a:ea typeface="Meiryo" pitchFamily="34" charset="-122"/>
                          <a:cs typeface="Meiryo" pitchFamily="34" charset="-120"/>
                        </a:rPr>
                        <a:t>リスク</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AF2FA"/>
                    </a:solidFill>
                  </a:tcPr>
                </a:tc>
                <a:tc>
                  <a:txBody>
                    <a:bodyPr/>
                    <a:lstStyle/>
                    <a:p>
                      <a:pPr algn="ctr" indent="0" marL="0">
                        <a:buNone/>
                      </a:pPr>
                      <a:r>
                        <a:rPr lang="en-US" sz="1200" dirty="0">
                          <a:solidFill>
                            <a:srgbClr val="1A5C1A"/>
                          </a:solidFill>
                          <a:latin typeface="Meiryo" pitchFamily="34" charset="0"/>
                          <a:ea typeface="Meiryo" pitchFamily="34" charset="-122"/>
                          <a:cs typeface="Meiryo" pitchFamily="34" charset="-120"/>
                        </a:rPr>
                        <a:t>○ 低リスク</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FE8"/>
                    </a:solidFill>
                  </a:tcPr>
                </a:tc>
                <a:tc>
                  <a:txBody>
                    <a:bodyPr/>
                    <a:lstStyle/>
                    <a:p>
                      <a:pPr algn="ctr" indent="0" marL="0">
                        <a:buNone/>
                      </a:pPr>
                      <a:r>
                        <a:rPr lang="en-US" sz="1200" dirty="0">
                          <a:solidFill>
                            <a:srgbClr val="336699"/>
                          </a:solidFill>
                          <a:latin typeface="Meiryo" pitchFamily="34" charset="0"/>
                          <a:ea typeface="Meiryo" pitchFamily="34" charset="-122"/>
                          <a:cs typeface="Meiryo" pitchFamily="34" charset="-120"/>
                        </a:rPr>
                        <a:t>○ 低リスク</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6FF"/>
                    </a:solidFill>
                  </a:tcPr>
                </a:tc>
                <a:tc>
                  <a:txBody>
                    <a:bodyPr/>
                    <a:lstStyle/>
                    <a:p>
                      <a:pPr algn="ctr" indent="0" marL="0">
                        <a:buNone/>
                      </a:pPr>
                      <a:r>
                        <a:rPr lang="en-US" sz="1200" dirty="0">
                          <a:solidFill>
                            <a:srgbClr val="CC3333"/>
                          </a:solidFill>
                          <a:latin typeface="Meiryo" pitchFamily="34" charset="0"/>
                          <a:ea typeface="Meiryo" pitchFamily="34" charset="-122"/>
                          <a:cs typeface="Meiryo" pitchFamily="34" charset="-120"/>
                        </a:rPr>
                        <a:t>△ 移行リスク大</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0F0"/>
                    </a:solidFill>
                  </a:tcPr>
                </a:tc>
              </a:tr>
              <a:tr h="512064">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総合評価</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3A5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 採用推奨</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A5C1A"/>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 暫定対応</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336699"/>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 長期検討</a:t>
                      </a:r>
                      <a:endParaRPr lang="en-US" sz="1200" dirty="0">
                        <a:latin typeface="Meiryo" charset="0"/>
                        <a:ea typeface="Meiryo" charset="0"/>
                        <a:cs typeface="Meiryo"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555555"/>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p:spPr>
      </p:sp>
      <p:sp>
        <p:nvSpPr>
          <p:cNvPr id="3" name="Text 1"/>
          <p:cNvSpPr/>
          <p:nvPr/>
        </p:nvSpPr>
        <p:spPr>
          <a:xfrm>
            <a:off x="320040" y="91440"/>
            <a:ext cx="8229600" cy="59436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推奨案A — Redisキャッシュ + SQS非同期化</a:t>
            </a:r>
            <a:endParaRPr lang="en-US" sz="2400" dirty="0"/>
          </a:p>
        </p:txBody>
      </p:sp>
      <p:sp>
        <p:nvSpPr>
          <p:cNvPr id="4" name="Shape 2"/>
          <p:cNvSpPr/>
          <p:nvPr/>
        </p:nvSpPr>
        <p:spPr>
          <a:xfrm>
            <a:off x="274320" y="914400"/>
            <a:ext cx="3291840" cy="4005072"/>
          </a:xfrm>
          <a:prstGeom prst="rect">
            <a:avLst/>
          </a:prstGeom>
          <a:solidFill>
            <a:srgbClr val="EAF2FA"/>
          </a:solidFill>
          <a:ln w="12700">
            <a:solidFill>
              <a:srgbClr val="336699"/>
            </a:solidFill>
            <a:prstDash val="solid"/>
          </a:ln>
        </p:spPr>
      </p:sp>
      <p:sp>
        <p:nvSpPr>
          <p:cNvPr id="5" name="Shape 3"/>
          <p:cNvSpPr/>
          <p:nvPr/>
        </p:nvSpPr>
        <p:spPr>
          <a:xfrm>
            <a:off x="274320" y="914400"/>
            <a:ext cx="3291840" cy="73152"/>
          </a:xfrm>
          <a:prstGeom prst="rect">
            <a:avLst/>
          </a:prstGeom>
          <a:solidFill>
            <a:srgbClr val="2E7D32"/>
          </a:solidFill>
          <a:ln/>
        </p:spPr>
      </p:sp>
      <p:sp>
        <p:nvSpPr>
          <p:cNvPr id="6" name="Text 4"/>
          <p:cNvSpPr/>
          <p:nvPr/>
        </p:nvSpPr>
        <p:spPr>
          <a:xfrm>
            <a:off x="384048" y="1005840"/>
            <a:ext cx="3108960" cy="329184"/>
          </a:xfrm>
          <a:prstGeom prst="rect">
            <a:avLst/>
          </a:prstGeom>
          <a:noFill/>
          <a:ln/>
        </p:spPr>
        <p:txBody>
          <a:bodyPr wrap="square" lIns="0" tIns="0" rIns="0" bIns="0" rtlCol="0" anchor="ctr"/>
          <a:lstStyle/>
          <a:p>
            <a:pPr indent="0" marL="0">
              <a:buNone/>
            </a:pPr>
            <a:r>
              <a:rPr lang="en-US" sz="1400" b="1" dirty="0">
                <a:solidFill>
                  <a:srgbClr val="336699"/>
                </a:solidFill>
                <a:latin typeface="Meiryo" pitchFamily="34" charset="0"/>
                <a:ea typeface="Meiryo" pitchFamily="34" charset="-122"/>
                <a:cs typeface="Meiryo" pitchFamily="34" charset="-120"/>
              </a:rPr>
              <a:t>採用理由</a:t>
            </a:r>
            <a:endParaRPr lang="en-US" sz="1400" dirty="0"/>
          </a:p>
        </p:txBody>
      </p:sp>
      <p:sp>
        <p:nvSpPr>
          <p:cNvPr id="7" name="Text 5"/>
          <p:cNvSpPr/>
          <p:nvPr/>
        </p:nvSpPr>
        <p:spPr>
          <a:xfrm>
            <a:off x="384048" y="1371600"/>
            <a:ext cx="3108960" cy="3383280"/>
          </a:xfrm>
          <a:prstGeom prst="rect">
            <a:avLst/>
          </a:prstGeom>
          <a:noFill/>
          <a:ln/>
        </p:spPr>
        <p:txBody>
          <a:bodyPr wrap="square" rtlCol="0" anchor="ctr"/>
          <a:lstStyle/>
          <a:p>
            <a:pPr marL="342900" indent="-342900">
              <a:spcAft>
                <a:spcPts val="700"/>
              </a:spcAft>
              <a:buSzPct val="100000"/>
              <a:buChar char="•"/>
            </a:pPr>
            <a:r>
              <a:rPr lang="en-US" sz="1200" dirty="0">
                <a:solidFill>
                  <a:srgbClr val="333333"/>
                </a:solidFill>
                <a:latin typeface="Meiryo" pitchFamily="34" charset="0"/>
                <a:ea typeface="Meiryo" pitchFamily="34" charset="-122"/>
                <a:cs typeface="Meiryo" pitchFamily="34" charset="-120"/>
              </a:rPr>
              <a:t>改修範囲が限定的で本番影響を最小化できる</a:t>
            </a:r>
            <a:endParaRPr lang="en-US" sz="1200" dirty="0"/>
          </a:p>
          <a:p>
            <a:pPr marL="342900" indent="-342900">
              <a:spcAft>
                <a:spcPts val="700"/>
              </a:spcAft>
              <a:buSzPct val="100000"/>
              <a:buChar char="•"/>
            </a:pPr>
            <a:r>
              <a:rPr lang="en-US" sz="1200" dirty="0">
                <a:solidFill>
                  <a:srgbClr val="333333"/>
                </a:solidFill>
                <a:latin typeface="Meiryo" pitchFamily="34" charset="0"/>
                <a:ea typeface="Meiryo" pitchFamily="34" charset="-122"/>
                <a:cs typeface="Meiryo" pitchFamily="34" charset="-120"/>
              </a:rPr>
              <a:t>Redis は社内認証基盤で実績あり（共有インスタンス活用可）</a:t>
            </a:r>
            <a:endParaRPr lang="en-US" sz="1200" dirty="0"/>
          </a:p>
          <a:p>
            <a:pPr marL="342900" indent="-342900">
              <a:spcAft>
                <a:spcPts val="700"/>
              </a:spcAft>
              <a:buSzPct val="100000"/>
              <a:buChar char="•"/>
            </a:pPr>
            <a:r>
              <a:rPr lang="en-US" sz="1200" dirty="0">
                <a:solidFill>
                  <a:srgbClr val="333333"/>
                </a:solidFill>
                <a:latin typeface="Meiryo" pitchFamily="34" charset="0"/>
                <a:ea typeface="Meiryo" pitchFamily="34" charset="-122"/>
                <a:cs typeface="Meiryo" pitchFamily="34" charset="-120"/>
              </a:rPr>
              <a:t>読み取り系API（検索・ランキング）はキャッシュ効果が特に大きい</a:t>
            </a:r>
            <a:endParaRPr lang="en-US" sz="1200" dirty="0"/>
          </a:p>
          <a:p>
            <a:pPr marL="342900" indent="-342900">
              <a:spcAft>
                <a:spcPts val="700"/>
              </a:spcAft>
              <a:buSzPct val="100000"/>
              <a:buChar char="•"/>
            </a:pPr>
            <a:r>
              <a:rPr lang="en-US" sz="1200" dirty="0">
                <a:solidFill>
                  <a:srgbClr val="333333"/>
                </a:solidFill>
                <a:latin typeface="Meiryo" pitchFamily="34" charset="0"/>
                <a:ea typeface="Meiryo" pitchFamily="34" charset="-122"/>
                <a:cs typeface="Meiryo" pitchFamily="34" charset="-120"/>
              </a:rPr>
              <a:t>SQSでバッチ処理を非同期化しDB競合を根本排除</a:t>
            </a:r>
            <a:endParaRPr lang="en-US" sz="1200" dirty="0"/>
          </a:p>
          <a:p>
            <a:pPr marL="342900" indent="-342900">
              <a:spcAft>
                <a:spcPts val="700"/>
              </a:spcAft>
              <a:buSzPct val="100000"/>
              <a:buChar char="•"/>
            </a:pPr>
            <a:r>
              <a:rPr lang="en-US" sz="1200" dirty="0">
                <a:solidFill>
                  <a:srgbClr val="333333"/>
                </a:solidFill>
                <a:latin typeface="Meiryo" pitchFamily="34" charset="0"/>
                <a:ea typeface="Meiryo" pitchFamily="34" charset="-122"/>
                <a:cs typeface="Meiryo" pitchFamily="34" charset="-120"/>
              </a:rPr>
              <a:t>案Bとの組み合わせで段階的な移行が可能</a:t>
            </a:r>
            <a:endParaRPr lang="en-US" sz="1200" dirty="0"/>
          </a:p>
          <a:p>
            <a:pPr marL="342900" indent="-342900">
              <a:spcAft>
                <a:spcPts val="700"/>
              </a:spcAft>
              <a:buSzPct val="100000"/>
              <a:buChar char="•"/>
            </a:pPr>
            <a:r>
              <a:rPr lang="en-US" sz="1200" dirty="0">
                <a:solidFill>
                  <a:srgbClr val="333333"/>
                </a:solidFill>
                <a:latin typeface="Meiryo" pitchFamily="34" charset="0"/>
                <a:ea typeface="Meiryo" pitchFamily="34" charset="-122"/>
                <a:cs typeface="Meiryo" pitchFamily="34" charset="-120"/>
              </a:rPr>
              <a:t>期待効果: P99を 5,400ms → 500ms（90%改善）</a:t>
            </a:r>
            <a:endParaRPr lang="en-US" sz="1200" dirty="0"/>
          </a:p>
        </p:txBody>
      </p:sp>
      <p:sp>
        <p:nvSpPr>
          <p:cNvPr id="8" name="Text 6"/>
          <p:cNvSpPr/>
          <p:nvPr/>
        </p:nvSpPr>
        <p:spPr>
          <a:xfrm>
            <a:off x="3840480" y="914400"/>
            <a:ext cx="5029200" cy="347472"/>
          </a:xfrm>
          <a:prstGeom prst="rect">
            <a:avLst/>
          </a:prstGeom>
          <a:noFill/>
          <a:ln/>
        </p:spPr>
        <p:txBody>
          <a:bodyPr wrap="square" lIns="0" tIns="0" rIns="0" bIns="0" rtlCol="0" anchor="ctr"/>
          <a:lstStyle/>
          <a:p>
            <a:pPr indent="0" marL="0">
              <a:buNone/>
            </a:pPr>
            <a:r>
              <a:rPr lang="en-US" sz="1300" b="1" dirty="0">
                <a:solidFill>
                  <a:srgbClr val="336699"/>
                </a:solidFill>
                <a:latin typeface="Meiryo" pitchFamily="34" charset="0"/>
                <a:ea typeface="Meiryo" pitchFamily="34" charset="-122"/>
                <a:cs typeface="Meiryo" pitchFamily="34" charset="-120"/>
              </a:rPr>
              <a:t>改善後リクエストフロー</a:t>
            </a:r>
            <a:endParaRPr lang="en-US" sz="1300" dirty="0"/>
          </a:p>
        </p:txBody>
      </p:sp>
      <p:sp>
        <p:nvSpPr>
          <p:cNvPr id="9" name="Shape 7"/>
          <p:cNvSpPr/>
          <p:nvPr/>
        </p:nvSpPr>
        <p:spPr>
          <a:xfrm>
            <a:off x="5029200" y="1371600"/>
            <a:ext cx="2011680" cy="475488"/>
          </a:xfrm>
          <a:prstGeom prst="rect">
            <a:avLst/>
          </a:prstGeom>
          <a:solidFill>
            <a:srgbClr val="336699"/>
          </a:solidFill>
          <a:ln/>
          <a:effectLst>
            <a:outerShdw sx="100000" sy="100000" kx="0" ky="0" algn="bl" rotWithShape="0" blurRad="76200" dist="25400" dir="16200000">
              <a:srgbClr val="000000">
                <a:alpha val="15000"/>
              </a:srgbClr>
            </a:outerShdw>
          </a:effectLst>
        </p:spPr>
      </p:sp>
      <p:sp>
        <p:nvSpPr>
          <p:cNvPr id="10" name="Text 8"/>
          <p:cNvSpPr/>
          <p:nvPr/>
        </p:nvSpPr>
        <p:spPr>
          <a:xfrm>
            <a:off x="5029200" y="1371600"/>
            <a:ext cx="2011680"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API Gateway / App Server</a:t>
            </a:r>
            <a:endParaRPr lang="en-US" sz="1000" dirty="0"/>
          </a:p>
        </p:txBody>
      </p:sp>
      <p:sp>
        <p:nvSpPr>
          <p:cNvPr id="11" name="Shape 9"/>
          <p:cNvSpPr/>
          <p:nvPr/>
        </p:nvSpPr>
        <p:spPr>
          <a:xfrm>
            <a:off x="6035040" y="1847088"/>
            <a:ext cx="0" cy="219456"/>
          </a:xfrm>
          <a:prstGeom prst="line">
            <a:avLst/>
          </a:prstGeom>
          <a:noFill/>
          <a:ln w="12700">
            <a:solidFill>
              <a:srgbClr val="888888"/>
            </a:solidFill>
            <a:prstDash val="solid"/>
          </a:ln>
        </p:spPr>
      </p:sp>
      <p:sp>
        <p:nvSpPr>
          <p:cNvPr id="12" name="Text 10"/>
          <p:cNvSpPr/>
          <p:nvPr/>
        </p:nvSpPr>
        <p:spPr>
          <a:xfrm>
            <a:off x="5916168" y="2020824"/>
            <a:ext cx="237744" cy="164592"/>
          </a:xfrm>
          <a:prstGeom prst="rect">
            <a:avLst/>
          </a:prstGeom>
          <a:noFill/>
          <a:ln/>
        </p:spPr>
        <p:txBody>
          <a:bodyPr wrap="square" lIns="0" tIns="0" rIns="0" bIns="0" rtlCol="0" anchor="ctr"/>
          <a:lstStyle/>
          <a:p>
            <a:pPr algn="ctr" indent="0" marL="0">
              <a:buNone/>
            </a:pPr>
            <a:r>
              <a:rPr lang="en-US" sz="900" dirty="0">
                <a:solidFill>
                  <a:srgbClr val="888888"/>
                </a:solidFill>
              </a:rPr>
              <a:t>▼</a:t>
            </a:r>
            <a:endParaRPr lang="en-US" sz="900" dirty="0"/>
          </a:p>
        </p:txBody>
      </p:sp>
      <p:sp>
        <p:nvSpPr>
          <p:cNvPr id="13" name="Shape 11"/>
          <p:cNvSpPr/>
          <p:nvPr/>
        </p:nvSpPr>
        <p:spPr>
          <a:xfrm>
            <a:off x="4754880" y="2212848"/>
            <a:ext cx="2560320" cy="475488"/>
          </a:xfrm>
          <a:prstGeom prst="rect">
            <a:avLst/>
          </a:prstGeom>
          <a:solidFill>
            <a:srgbClr val="DC6014"/>
          </a:solidFill>
          <a:ln/>
          <a:effectLst>
            <a:outerShdw sx="100000" sy="100000" kx="0" ky="0" algn="bl" rotWithShape="0" blurRad="76200" dist="25400" dir="16200000">
              <a:srgbClr val="000000">
                <a:alpha val="15000"/>
              </a:srgbClr>
            </a:outerShdw>
          </a:effectLst>
        </p:spPr>
      </p:sp>
      <p:sp>
        <p:nvSpPr>
          <p:cNvPr id="14" name="Text 12"/>
          <p:cNvSpPr/>
          <p:nvPr/>
        </p:nvSpPr>
        <p:spPr>
          <a:xfrm>
            <a:off x="4754880" y="2212848"/>
            <a:ext cx="256032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Redis キャッシュ確認</a:t>
            </a:r>
            <a:endParaRPr lang="en-US" sz="1100" dirty="0"/>
          </a:p>
        </p:txBody>
      </p:sp>
      <p:sp>
        <p:nvSpPr>
          <p:cNvPr id="15" name="Shape 13"/>
          <p:cNvSpPr/>
          <p:nvPr/>
        </p:nvSpPr>
        <p:spPr>
          <a:xfrm>
            <a:off x="7315200" y="2450592"/>
            <a:ext cx="777240" cy="0"/>
          </a:xfrm>
          <a:prstGeom prst="line">
            <a:avLst/>
          </a:prstGeom>
          <a:noFill/>
          <a:ln w="25400">
            <a:solidFill>
              <a:srgbClr val="2E7D32"/>
            </a:solidFill>
            <a:prstDash val="solid"/>
          </a:ln>
        </p:spPr>
      </p:sp>
      <p:sp>
        <p:nvSpPr>
          <p:cNvPr id="16" name="Text 14"/>
          <p:cNvSpPr/>
          <p:nvPr/>
        </p:nvSpPr>
        <p:spPr>
          <a:xfrm>
            <a:off x="7315200" y="2322576"/>
            <a:ext cx="914400" cy="201168"/>
          </a:xfrm>
          <a:prstGeom prst="rect">
            <a:avLst/>
          </a:prstGeom>
          <a:noFill/>
          <a:ln/>
        </p:spPr>
        <p:txBody>
          <a:bodyPr wrap="square" lIns="0" tIns="0" rIns="0" bIns="0" rtlCol="0" anchor="ctr"/>
          <a:lstStyle/>
          <a:p>
            <a:pPr algn="ctr" indent="0" marL="0">
              <a:buNone/>
            </a:pPr>
            <a:r>
              <a:rPr lang="en-US" sz="800" b="1" dirty="0">
                <a:solidFill>
                  <a:srgbClr val="2E7D32"/>
                </a:solidFill>
              </a:rPr>
              <a:t>CACHE HIT ▶</a:t>
            </a:r>
            <a:endParaRPr lang="en-US" sz="800" dirty="0"/>
          </a:p>
        </p:txBody>
      </p:sp>
      <p:sp>
        <p:nvSpPr>
          <p:cNvPr id="17" name="Shape 15"/>
          <p:cNvSpPr/>
          <p:nvPr/>
        </p:nvSpPr>
        <p:spPr>
          <a:xfrm>
            <a:off x="8092440" y="2212848"/>
            <a:ext cx="1005840" cy="475488"/>
          </a:xfrm>
          <a:prstGeom prst="rect">
            <a:avLst/>
          </a:prstGeom>
          <a:solidFill>
            <a:srgbClr val="2E7D32"/>
          </a:solidFill>
          <a:ln/>
        </p:spPr>
      </p:sp>
      <p:sp>
        <p:nvSpPr>
          <p:cNvPr id="18" name="Text 16"/>
          <p:cNvSpPr/>
          <p:nvPr/>
        </p:nvSpPr>
        <p:spPr>
          <a:xfrm>
            <a:off x="8092440" y="2212848"/>
            <a:ext cx="1005840" cy="475488"/>
          </a:xfrm>
          <a:prstGeom prst="rect">
            <a:avLst/>
          </a:prstGeom>
          <a:noFill/>
          <a:ln/>
        </p:spPr>
        <p:txBody>
          <a:bodyPr wrap="square" lIns="0" tIns="0" rIns="0" bIns="0" rtlCol="0" anchor="ctr"/>
          <a:lstStyle/>
          <a:p>
            <a:pPr algn="ctr" indent="0" marL="0">
              <a:buNone/>
            </a:pPr>
            <a:r>
              <a:rPr lang="en-US" sz="900" b="1" dirty="0">
                <a:solidFill>
                  <a:srgbClr val="FFFFFF"/>
                </a:solidFill>
                <a:latin typeface="Meiryo" pitchFamily="34" charset="0"/>
                <a:ea typeface="Meiryo" pitchFamily="34" charset="-122"/>
                <a:cs typeface="Meiryo" pitchFamily="34" charset="-120"/>
              </a:rPr>
              <a:t>即レスポンス</a:t>
            </a:r>
            <a:endParaRPr lang="en-US" sz="900" dirty="0"/>
          </a:p>
          <a:p>
            <a:pPr algn="ctr" indent="0" marL="0">
              <a:buNone/>
            </a:pPr>
            <a:r>
              <a:rPr lang="en-US" sz="900" b="1" dirty="0">
                <a:solidFill>
                  <a:srgbClr val="FFFFFF"/>
                </a:solidFill>
                <a:latin typeface="Meiryo" pitchFamily="34" charset="0"/>
                <a:ea typeface="Meiryo" pitchFamily="34" charset="-122"/>
                <a:cs typeface="Meiryo" pitchFamily="34" charset="-120"/>
              </a:rPr>
              <a:t>（高速）</a:t>
            </a:r>
            <a:endParaRPr lang="en-US" sz="900" dirty="0"/>
          </a:p>
        </p:txBody>
      </p:sp>
      <p:sp>
        <p:nvSpPr>
          <p:cNvPr id="19" name="Shape 17"/>
          <p:cNvSpPr/>
          <p:nvPr/>
        </p:nvSpPr>
        <p:spPr>
          <a:xfrm>
            <a:off x="6035040" y="2688336"/>
            <a:ext cx="0" cy="237744"/>
          </a:xfrm>
          <a:prstGeom prst="line">
            <a:avLst/>
          </a:prstGeom>
          <a:noFill/>
          <a:ln w="25400">
            <a:solidFill>
              <a:srgbClr val="4D94CC"/>
            </a:solidFill>
            <a:prstDash val="solid"/>
          </a:ln>
        </p:spPr>
      </p:sp>
      <p:sp>
        <p:nvSpPr>
          <p:cNvPr id="20" name="Text 18"/>
          <p:cNvSpPr/>
          <p:nvPr/>
        </p:nvSpPr>
        <p:spPr>
          <a:xfrm>
            <a:off x="5760720" y="2715768"/>
            <a:ext cx="914400" cy="182880"/>
          </a:xfrm>
          <a:prstGeom prst="rect">
            <a:avLst/>
          </a:prstGeom>
          <a:noFill/>
          <a:ln/>
        </p:spPr>
        <p:txBody>
          <a:bodyPr wrap="square" lIns="0" tIns="0" rIns="0" bIns="0" rtlCol="0" anchor="ctr"/>
          <a:lstStyle/>
          <a:p>
            <a:pPr algn="ctr" indent="0" marL="0">
              <a:buNone/>
            </a:pPr>
            <a:r>
              <a:rPr lang="en-US" sz="800" b="1" dirty="0">
                <a:solidFill>
                  <a:srgbClr val="4D94CC"/>
                </a:solidFill>
              </a:rPr>
              <a:t>CACHE MISS ▼</a:t>
            </a:r>
            <a:endParaRPr lang="en-US" sz="800" dirty="0"/>
          </a:p>
        </p:txBody>
      </p:sp>
      <p:sp>
        <p:nvSpPr>
          <p:cNvPr id="21" name="Shape 19"/>
          <p:cNvSpPr/>
          <p:nvPr/>
        </p:nvSpPr>
        <p:spPr>
          <a:xfrm>
            <a:off x="4754880" y="2953512"/>
            <a:ext cx="2560320" cy="475488"/>
          </a:xfrm>
          <a:prstGeom prst="rect">
            <a:avLst/>
          </a:prstGeom>
          <a:solidFill>
            <a:srgbClr val="336699"/>
          </a:solidFill>
          <a:ln/>
          <a:effectLst>
            <a:outerShdw sx="100000" sy="100000" kx="0" ky="0" algn="bl" rotWithShape="0" blurRad="76200" dist="25400" dir="16200000">
              <a:srgbClr val="000000">
                <a:alpha val="15000"/>
              </a:srgbClr>
            </a:outerShdw>
          </a:effectLst>
        </p:spPr>
      </p:sp>
      <p:sp>
        <p:nvSpPr>
          <p:cNvPr id="22" name="Text 20"/>
          <p:cNvSpPr/>
          <p:nvPr/>
        </p:nvSpPr>
        <p:spPr>
          <a:xfrm>
            <a:off x="4754880" y="2953512"/>
            <a:ext cx="256032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PostgreSQL クエリ</a:t>
            </a:r>
            <a:endParaRPr lang="en-US" sz="1100" dirty="0"/>
          </a:p>
        </p:txBody>
      </p:sp>
      <p:sp>
        <p:nvSpPr>
          <p:cNvPr id="23" name="Shape 21"/>
          <p:cNvSpPr/>
          <p:nvPr/>
        </p:nvSpPr>
        <p:spPr>
          <a:xfrm>
            <a:off x="6035040" y="3429000"/>
            <a:ext cx="0" cy="219456"/>
          </a:xfrm>
          <a:prstGeom prst="line">
            <a:avLst/>
          </a:prstGeom>
          <a:noFill/>
          <a:ln w="12700">
            <a:solidFill>
              <a:srgbClr val="888888"/>
            </a:solidFill>
            <a:prstDash val="solid"/>
          </a:ln>
        </p:spPr>
      </p:sp>
      <p:sp>
        <p:nvSpPr>
          <p:cNvPr id="24" name="Text 22"/>
          <p:cNvSpPr/>
          <p:nvPr/>
        </p:nvSpPr>
        <p:spPr>
          <a:xfrm>
            <a:off x="5916168" y="3602736"/>
            <a:ext cx="237744" cy="164592"/>
          </a:xfrm>
          <a:prstGeom prst="rect">
            <a:avLst/>
          </a:prstGeom>
          <a:noFill/>
          <a:ln/>
        </p:spPr>
        <p:txBody>
          <a:bodyPr wrap="square" lIns="0" tIns="0" rIns="0" bIns="0" rtlCol="0" anchor="ctr"/>
          <a:lstStyle/>
          <a:p>
            <a:pPr algn="ctr" indent="0" marL="0">
              <a:buNone/>
            </a:pPr>
            <a:r>
              <a:rPr lang="en-US" sz="900" dirty="0">
                <a:solidFill>
                  <a:srgbClr val="888888"/>
                </a:solidFill>
              </a:rPr>
              <a:t>▼</a:t>
            </a:r>
            <a:endParaRPr lang="en-US" sz="900" dirty="0"/>
          </a:p>
        </p:txBody>
      </p:sp>
      <p:sp>
        <p:nvSpPr>
          <p:cNvPr id="25" name="Shape 23"/>
          <p:cNvSpPr/>
          <p:nvPr/>
        </p:nvSpPr>
        <p:spPr>
          <a:xfrm>
            <a:off x="4480560" y="3794760"/>
            <a:ext cx="3108960" cy="457200"/>
          </a:xfrm>
          <a:prstGeom prst="rect">
            <a:avLst/>
          </a:prstGeom>
          <a:solidFill>
            <a:srgbClr val="444444"/>
          </a:solidFill>
          <a:ln/>
        </p:spPr>
      </p:sp>
      <p:sp>
        <p:nvSpPr>
          <p:cNvPr id="26" name="Text 24"/>
          <p:cNvSpPr/>
          <p:nvPr/>
        </p:nvSpPr>
        <p:spPr>
          <a:xfrm>
            <a:off x="4480560" y="3794760"/>
            <a:ext cx="31089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Meiryo" pitchFamily="34" charset="0"/>
                <a:ea typeface="Meiryo" pitchFamily="34" charset="-122"/>
                <a:cs typeface="Meiryo" pitchFamily="34" charset="-120"/>
              </a:rPr>
              <a:t>レスポンス返却 + Redis書込み（次回HIT化）</a:t>
            </a:r>
            <a:endParaRPr lang="en-US" sz="1000" dirty="0"/>
          </a:p>
        </p:txBody>
      </p:sp>
      <p:sp>
        <p:nvSpPr>
          <p:cNvPr id="27" name="Shape 25"/>
          <p:cNvSpPr/>
          <p:nvPr/>
        </p:nvSpPr>
        <p:spPr>
          <a:xfrm>
            <a:off x="3931920" y="4407408"/>
            <a:ext cx="5166360" cy="320040"/>
          </a:xfrm>
          <a:prstGeom prst="rect">
            <a:avLst/>
          </a:prstGeom>
          <a:solidFill>
            <a:srgbClr val="F0E8FF"/>
          </a:solidFill>
          <a:ln w="12700">
            <a:solidFill>
              <a:srgbClr val="7B35A0"/>
            </a:solidFill>
            <a:prstDash val="solid"/>
          </a:ln>
        </p:spPr>
      </p:sp>
      <p:sp>
        <p:nvSpPr>
          <p:cNvPr id="28" name="Text 26"/>
          <p:cNvSpPr/>
          <p:nvPr/>
        </p:nvSpPr>
        <p:spPr>
          <a:xfrm>
            <a:off x="4005072" y="4407408"/>
            <a:ext cx="5029200" cy="320040"/>
          </a:xfrm>
          <a:prstGeom prst="rect">
            <a:avLst/>
          </a:prstGeom>
          <a:noFill/>
          <a:ln/>
        </p:spPr>
        <p:txBody>
          <a:bodyPr wrap="square" lIns="0" tIns="0" rIns="0" bIns="0" rtlCol="0" anchor="ctr"/>
          <a:lstStyle/>
          <a:p>
            <a:pPr indent="0" marL="0">
              <a:buNone/>
            </a:pPr>
            <a:r>
              <a:rPr lang="en-US" sz="1000" dirty="0">
                <a:solidFill>
                  <a:srgbClr val="7B35A0"/>
                </a:solidFill>
                <a:latin typeface="Meiryo" pitchFamily="34" charset="0"/>
                <a:ea typeface="Meiryo" pitchFamily="34" charset="-122"/>
                <a:cs typeface="Meiryo" pitchFamily="34" charset="-120"/>
              </a:rPr>
              <a:t>書込・集計系処理 → SQSキュー経由で非同期処理（DBへの直接書込み競合を排除）</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D94CC"/>
          </a:solidFill>
          <a:ln/>
        </p:spPr>
      </p:sp>
      <p:sp>
        <p:nvSpPr>
          <p:cNvPr id="3" name="Text 1"/>
          <p:cNvSpPr/>
          <p:nvPr/>
        </p:nvSpPr>
        <p:spPr>
          <a:xfrm>
            <a:off x="320040" y="164592"/>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アクションプラン — 6週間実行計画</a:t>
            </a:r>
            <a:endParaRPr lang="en-US" sz="2600" dirty="0"/>
          </a:p>
        </p:txBody>
      </p:sp>
      <p:sp>
        <p:nvSpPr>
          <p:cNvPr id="4" name="Shape 2"/>
          <p:cNvSpPr/>
          <p:nvPr/>
        </p:nvSpPr>
        <p:spPr>
          <a:xfrm>
            <a:off x="2651760" y="1005840"/>
            <a:ext cx="1001268" cy="347472"/>
          </a:xfrm>
          <a:prstGeom prst="rect">
            <a:avLst/>
          </a:prstGeom>
          <a:solidFill>
            <a:srgbClr val="162840"/>
          </a:solidFill>
          <a:ln/>
        </p:spPr>
      </p:sp>
      <p:sp>
        <p:nvSpPr>
          <p:cNvPr id="5" name="Text 3"/>
          <p:cNvSpPr/>
          <p:nvPr/>
        </p:nvSpPr>
        <p:spPr>
          <a:xfrm>
            <a:off x="2651760" y="1005840"/>
            <a:ext cx="1001268" cy="347472"/>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Week 1</a:t>
            </a:r>
            <a:endParaRPr lang="en-US" sz="1100" dirty="0"/>
          </a:p>
        </p:txBody>
      </p:sp>
      <p:sp>
        <p:nvSpPr>
          <p:cNvPr id="6" name="Shape 4"/>
          <p:cNvSpPr/>
          <p:nvPr/>
        </p:nvSpPr>
        <p:spPr>
          <a:xfrm>
            <a:off x="3680460" y="1005840"/>
            <a:ext cx="1001268" cy="347472"/>
          </a:xfrm>
          <a:prstGeom prst="rect">
            <a:avLst/>
          </a:prstGeom>
          <a:solidFill>
            <a:srgbClr val="162840"/>
          </a:solidFill>
          <a:ln/>
        </p:spPr>
      </p:sp>
      <p:sp>
        <p:nvSpPr>
          <p:cNvPr id="7" name="Text 5"/>
          <p:cNvSpPr/>
          <p:nvPr/>
        </p:nvSpPr>
        <p:spPr>
          <a:xfrm>
            <a:off x="3680460" y="1005840"/>
            <a:ext cx="1001268" cy="347472"/>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Week 2</a:t>
            </a:r>
            <a:endParaRPr lang="en-US" sz="1100" dirty="0"/>
          </a:p>
        </p:txBody>
      </p:sp>
      <p:sp>
        <p:nvSpPr>
          <p:cNvPr id="8" name="Shape 6"/>
          <p:cNvSpPr/>
          <p:nvPr/>
        </p:nvSpPr>
        <p:spPr>
          <a:xfrm>
            <a:off x="4709160" y="1005840"/>
            <a:ext cx="1001268" cy="347472"/>
          </a:xfrm>
          <a:prstGeom prst="rect">
            <a:avLst/>
          </a:prstGeom>
          <a:solidFill>
            <a:srgbClr val="162840"/>
          </a:solidFill>
          <a:ln/>
        </p:spPr>
      </p:sp>
      <p:sp>
        <p:nvSpPr>
          <p:cNvPr id="9" name="Text 7"/>
          <p:cNvSpPr/>
          <p:nvPr/>
        </p:nvSpPr>
        <p:spPr>
          <a:xfrm>
            <a:off x="4709160" y="1005840"/>
            <a:ext cx="1001268" cy="347472"/>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Week 3</a:t>
            </a:r>
            <a:endParaRPr lang="en-US" sz="1100" dirty="0"/>
          </a:p>
        </p:txBody>
      </p:sp>
      <p:sp>
        <p:nvSpPr>
          <p:cNvPr id="10" name="Shape 8"/>
          <p:cNvSpPr/>
          <p:nvPr/>
        </p:nvSpPr>
        <p:spPr>
          <a:xfrm>
            <a:off x="5737860" y="1005840"/>
            <a:ext cx="1001268" cy="347472"/>
          </a:xfrm>
          <a:prstGeom prst="rect">
            <a:avLst/>
          </a:prstGeom>
          <a:solidFill>
            <a:srgbClr val="162840"/>
          </a:solidFill>
          <a:ln/>
        </p:spPr>
      </p:sp>
      <p:sp>
        <p:nvSpPr>
          <p:cNvPr id="11" name="Text 9"/>
          <p:cNvSpPr/>
          <p:nvPr/>
        </p:nvSpPr>
        <p:spPr>
          <a:xfrm>
            <a:off x="5737860" y="1005840"/>
            <a:ext cx="1001268" cy="347472"/>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Week 4</a:t>
            </a:r>
            <a:endParaRPr lang="en-US" sz="1100" dirty="0"/>
          </a:p>
        </p:txBody>
      </p:sp>
      <p:sp>
        <p:nvSpPr>
          <p:cNvPr id="12" name="Shape 10"/>
          <p:cNvSpPr/>
          <p:nvPr/>
        </p:nvSpPr>
        <p:spPr>
          <a:xfrm>
            <a:off x="6766560" y="1005840"/>
            <a:ext cx="1001268" cy="347472"/>
          </a:xfrm>
          <a:prstGeom prst="rect">
            <a:avLst/>
          </a:prstGeom>
          <a:solidFill>
            <a:srgbClr val="162840"/>
          </a:solidFill>
          <a:ln/>
        </p:spPr>
      </p:sp>
      <p:sp>
        <p:nvSpPr>
          <p:cNvPr id="13" name="Text 11"/>
          <p:cNvSpPr/>
          <p:nvPr/>
        </p:nvSpPr>
        <p:spPr>
          <a:xfrm>
            <a:off x="6766560" y="1005840"/>
            <a:ext cx="1001268" cy="347472"/>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Week 5</a:t>
            </a:r>
            <a:endParaRPr lang="en-US" sz="1100" dirty="0"/>
          </a:p>
        </p:txBody>
      </p:sp>
      <p:sp>
        <p:nvSpPr>
          <p:cNvPr id="14" name="Shape 12"/>
          <p:cNvSpPr/>
          <p:nvPr/>
        </p:nvSpPr>
        <p:spPr>
          <a:xfrm>
            <a:off x="7795260" y="1005840"/>
            <a:ext cx="1001268" cy="347472"/>
          </a:xfrm>
          <a:prstGeom prst="rect">
            <a:avLst/>
          </a:prstGeom>
          <a:solidFill>
            <a:srgbClr val="162840"/>
          </a:solidFill>
          <a:ln/>
        </p:spPr>
      </p:sp>
      <p:sp>
        <p:nvSpPr>
          <p:cNvPr id="15" name="Text 13"/>
          <p:cNvSpPr/>
          <p:nvPr/>
        </p:nvSpPr>
        <p:spPr>
          <a:xfrm>
            <a:off x="7795260" y="1005840"/>
            <a:ext cx="1001268" cy="347472"/>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Week 6</a:t>
            </a:r>
            <a:endParaRPr lang="en-US" sz="1100" dirty="0"/>
          </a:p>
        </p:txBody>
      </p:sp>
      <p:sp>
        <p:nvSpPr>
          <p:cNvPr id="16" name="Shape 14"/>
          <p:cNvSpPr/>
          <p:nvPr/>
        </p:nvSpPr>
        <p:spPr>
          <a:xfrm>
            <a:off x="182880" y="1389888"/>
            <a:ext cx="2377440" cy="566928"/>
          </a:xfrm>
          <a:prstGeom prst="rect">
            <a:avLst/>
          </a:prstGeom>
          <a:solidFill>
            <a:srgbClr val="162840"/>
          </a:solidFill>
          <a:ln/>
        </p:spPr>
      </p:sp>
      <p:sp>
        <p:nvSpPr>
          <p:cNvPr id="17" name="Text 15"/>
          <p:cNvSpPr/>
          <p:nvPr/>
        </p:nvSpPr>
        <p:spPr>
          <a:xfrm>
            <a:off x="256032" y="1389888"/>
            <a:ext cx="2304288" cy="566928"/>
          </a:xfrm>
          <a:prstGeom prst="rect">
            <a:avLst/>
          </a:prstGeom>
          <a:noFill/>
          <a:ln/>
        </p:spPr>
        <p:txBody>
          <a:bodyPr wrap="square" rtlCol="0" anchor="ctr"/>
          <a:lstStyle/>
          <a:p>
            <a:pPr indent="0" marL="0">
              <a:buNone/>
            </a:pPr>
            <a:r>
              <a:rPr lang="en-US" sz="1100" b="1" dirty="0">
                <a:solidFill>
                  <a:srgbClr val="FFFFFF"/>
                </a:solidFill>
                <a:latin typeface="Meiryo" pitchFamily="34" charset="0"/>
                <a:ea typeface="Meiryo" pitchFamily="34" charset="-122"/>
                <a:cs typeface="Meiryo" pitchFamily="34" charset="-120"/>
              </a:rPr>
              <a:t>Redis 設計・インフラ構築
</a:t>
            </a:r>
            <a:pPr indent="0" marL="0">
              <a:buNone/>
            </a:pPr>
            <a:r>
              <a:rPr lang="en-US" sz="900" dirty="0">
                <a:solidFill>
                  <a:srgbClr val="FFFFFF"/>
                </a:solidFill>
                <a:latin typeface="Meiryo" pitchFamily="34" charset="0"/>
                <a:ea typeface="Meiryo" pitchFamily="34" charset="-122"/>
                <a:cs typeface="Meiryo" pitchFamily="34" charset="-120"/>
              </a:rPr>
              <a:t>インフラ + バックエンドチーム</a:t>
            </a:r>
            <a:endParaRPr lang="en-US" sz="1100" dirty="0"/>
          </a:p>
        </p:txBody>
      </p:sp>
      <p:sp>
        <p:nvSpPr>
          <p:cNvPr id="18" name="Shape 16"/>
          <p:cNvSpPr/>
          <p:nvPr/>
        </p:nvSpPr>
        <p:spPr>
          <a:xfrm>
            <a:off x="2651760" y="1389888"/>
            <a:ext cx="6172200" cy="566928"/>
          </a:xfrm>
          <a:prstGeom prst="rect">
            <a:avLst/>
          </a:prstGeom>
          <a:solidFill>
            <a:srgbClr val="1A2F4A"/>
          </a:solidFill>
          <a:ln/>
        </p:spPr>
      </p:sp>
      <p:sp>
        <p:nvSpPr>
          <p:cNvPr id="19" name="Shape 17"/>
          <p:cNvSpPr/>
          <p:nvPr/>
        </p:nvSpPr>
        <p:spPr>
          <a:xfrm>
            <a:off x="2651760" y="1481328"/>
            <a:ext cx="2011680" cy="384048"/>
          </a:xfrm>
          <a:prstGeom prst="rect">
            <a:avLst/>
          </a:prstGeom>
          <a:solidFill>
            <a:srgbClr val="DC6014"/>
          </a:solidFill>
          <a:ln/>
          <a:effectLst>
            <a:outerShdw sx="100000" sy="100000" kx="0" ky="0" algn="bl" rotWithShape="0" blurRad="76200" dist="25400" dir="16200000">
              <a:srgbClr val="000000">
                <a:alpha val="15000"/>
              </a:srgbClr>
            </a:outerShdw>
          </a:effectLst>
        </p:spPr>
      </p:sp>
      <p:sp>
        <p:nvSpPr>
          <p:cNvPr id="20" name="Text 18"/>
          <p:cNvSpPr/>
          <p:nvPr/>
        </p:nvSpPr>
        <p:spPr>
          <a:xfrm>
            <a:off x="2651760" y="1481328"/>
            <a:ext cx="2011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W1〜W2</a:t>
            </a:r>
            <a:endParaRPr lang="en-US" sz="1000" dirty="0"/>
          </a:p>
        </p:txBody>
      </p:sp>
      <p:sp>
        <p:nvSpPr>
          <p:cNvPr id="21" name="Shape 19"/>
          <p:cNvSpPr/>
          <p:nvPr/>
        </p:nvSpPr>
        <p:spPr>
          <a:xfrm>
            <a:off x="182880" y="2029968"/>
            <a:ext cx="2377440" cy="566928"/>
          </a:xfrm>
          <a:prstGeom prst="rect">
            <a:avLst/>
          </a:prstGeom>
          <a:solidFill>
            <a:srgbClr val="162840"/>
          </a:solidFill>
          <a:ln/>
        </p:spPr>
      </p:sp>
      <p:sp>
        <p:nvSpPr>
          <p:cNvPr id="22" name="Text 20"/>
          <p:cNvSpPr/>
          <p:nvPr/>
        </p:nvSpPr>
        <p:spPr>
          <a:xfrm>
            <a:off x="256032" y="2029968"/>
            <a:ext cx="2304288" cy="566928"/>
          </a:xfrm>
          <a:prstGeom prst="rect">
            <a:avLst/>
          </a:prstGeom>
          <a:noFill/>
          <a:ln/>
        </p:spPr>
        <p:txBody>
          <a:bodyPr wrap="square" rtlCol="0" anchor="ctr"/>
          <a:lstStyle/>
          <a:p>
            <a:pPr indent="0" marL="0">
              <a:buNone/>
            </a:pPr>
            <a:r>
              <a:rPr lang="en-US" sz="1100" b="1" dirty="0">
                <a:solidFill>
                  <a:srgbClr val="FFFFFF"/>
                </a:solidFill>
                <a:latin typeface="Meiryo" pitchFamily="34" charset="0"/>
                <a:ea typeface="Meiryo" pitchFamily="34" charset="-122"/>
                <a:cs typeface="Meiryo" pitchFamily="34" charset="-120"/>
              </a:rPr>
              <a:t>キャッシュ層 実装・単体テスト
</a:t>
            </a:r>
            <a:pPr indent="0" marL="0">
              <a:buNone/>
            </a:pPr>
            <a:r>
              <a:rPr lang="en-US" sz="900" dirty="0">
                <a:solidFill>
                  <a:srgbClr val="FFFFFF"/>
                </a:solidFill>
                <a:latin typeface="Meiryo" pitchFamily="34" charset="0"/>
                <a:ea typeface="Meiryo" pitchFamily="34" charset="-122"/>
                <a:cs typeface="Meiryo" pitchFamily="34" charset="-120"/>
              </a:rPr>
              <a:t>バックエンドチーム</a:t>
            </a:r>
            <a:endParaRPr lang="en-US" sz="1100" dirty="0"/>
          </a:p>
        </p:txBody>
      </p:sp>
      <p:sp>
        <p:nvSpPr>
          <p:cNvPr id="23" name="Shape 21"/>
          <p:cNvSpPr/>
          <p:nvPr/>
        </p:nvSpPr>
        <p:spPr>
          <a:xfrm>
            <a:off x="2651760" y="2029968"/>
            <a:ext cx="6172200" cy="566928"/>
          </a:xfrm>
          <a:prstGeom prst="rect">
            <a:avLst/>
          </a:prstGeom>
          <a:solidFill>
            <a:srgbClr val="1A2F4A"/>
          </a:solidFill>
          <a:ln/>
        </p:spPr>
      </p:sp>
      <p:sp>
        <p:nvSpPr>
          <p:cNvPr id="24" name="Shape 22"/>
          <p:cNvSpPr/>
          <p:nvPr/>
        </p:nvSpPr>
        <p:spPr>
          <a:xfrm>
            <a:off x="4709160" y="2121408"/>
            <a:ext cx="2011680" cy="384048"/>
          </a:xfrm>
          <a:prstGeom prst="rect">
            <a:avLst/>
          </a:prstGeom>
          <a:solidFill>
            <a:srgbClr val="4D94CC"/>
          </a:solidFill>
          <a:ln/>
          <a:effectLst>
            <a:outerShdw sx="100000" sy="100000" kx="0" ky="0" algn="bl" rotWithShape="0" blurRad="76200" dist="25400" dir="16200000">
              <a:srgbClr val="000000">
                <a:alpha val="15000"/>
              </a:srgbClr>
            </a:outerShdw>
          </a:effectLst>
        </p:spPr>
      </p:sp>
      <p:sp>
        <p:nvSpPr>
          <p:cNvPr id="25" name="Text 23"/>
          <p:cNvSpPr/>
          <p:nvPr/>
        </p:nvSpPr>
        <p:spPr>
          <a:xfrm>
            <a:off x="4709160" y="2121408"/>
            <a:ext cx="20116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W3〜W4</a:t>
            </a:r>
            <a:endParaRPr lang="en-US" sz="1000" dirty="0"/>
          </a:p>
        </p:txBody>
      </p:sp>
      <p:sp>
        <p:nvSpPr>
          <p:cNvPr id="26" name="Shape 24"/>
          <p:cNvSpPr/>
          <p:nvPr/>
        </p:nvSpPr>
        <p:spPr>
          <a:xfrm>
            <a:off x="182880" y="2670048"/>
            <a:ext cx="2377440" cy="566928"/>
          </a:xfrm>
          <a:prstGeom prst="rect">
            <a:avLst/>
          </a:prstGeom>
          <a:solidFill>
            <a:srgbClr val="162840"/>
          </a:solidFill>
          <a:ln/>
        </p:spPr>
      </p:sp>
      <p:sp>
        <p:nvSpPr>
          <p:cNvPr id="27" name="Text 25"/>
          <p:cNvSpPr/>
          <p:nvPr/>
        </p:nvSpPr>
        <p:spPr>
          <a:xfrm>
            <a:off x="256032" y="2670048"/>
            <a:ext cx="2304288" cy="566928"/>
          </a:xfrm>
          <a:prstGeom prst="rect">
            <a:avLst/>
          </a:prstGeom>
          <a:noFill/>
          <a:ln/>
        </p:spPr>
        <p:txBody>
          <a:bodyPr wrap="square" rtlCol="0" anchor="ctr"/>
          <a:lstStyle/>
          <a:p>
            <a:pPr indent="0" marL="0">
              <a:buNone/>
            </a:pPr>
            <a:r>
              <a:rPr lang="en-US" sz="1100" b="1" dirty="0">
                <a:solidFill>
                  <a:srgbClr val="FFFFFF"/>
                </a:solidFill>
                <a:latin typeface="Meiryo" pitchFamily="34" charset="0"/>
                <a:ea typeface="Meiryo" pitchFamily="34" charset="-122"/>
                <a:cs typeface="Meiryo" pitchFamily="34" charset="-120"/>
              </a:rPr>
              <a:t>SQS非同期化 実装
</a:t>
            </a:r>
            <a:pPr indent="0" marL="0">
              <a:buNone/>
            </a:pPr>
            <a:r>
              <a:rPr lang="en-US" sz="900" dirty="0">
                <a:solidFill>
                  <a:srgbClr val="FFFFFF"/>
                </a:solidFill>
                <a:latin typeface="Meiryo" pitchFamily="34" charset="0"/>
                <a:ea typeface="Meiryo" pitchFamily="34" charset="-122"/>
                <a:cs typeface="Meiryo" pitchFamily="34" charset="-120"/>
              </a:rPr>
              <a:t>バックエンドチーム</a:t>
            </a:r>
            <a:endParaRPr lang="en-US" sz="1100" dirty="0"/>
          </a:p>
        </p:txBody>
      </p:sp>
      <p:sp>
        <p:nvSpPr>
          <p:cNvPr id="28" name="Shape 26"/>
          <p:cNvSpPr/>
          <p:nvPr/>
        </p:nvSpPr>
        <p:spPr>
          <a:xfrm>
            <a:off x="2651760" y="2670048"/>
            <a:ext cx="6172200" cy="566928"/>
          </a:xfrm>
          <a:prstGeom prst="rect">
            <a:avLst/>
          </a:prstGeom>
          <a:solidFill>
            <a:srgbClr val="1A2F4A"/>
          </a:solidFill>
          <a:ln/>
        </p:spPr>
      </p:sp>
      <p:sp>
        <p:nvSpPr>
          <p:cNvPr id="29" name="Shape 27"/>
          <p:cNvSpPr/>
          <p:nvPr/>
        </p:nvSpPr>
        <p:spPr>
          <a:xfrm>
            <a:off x="4709160" y="2761488"/>
            <a:ext cx="3040380" cy="384048"/>
          </a:xfrm>
          <a:prstGeom prst="rect">
            <a:avLst/>
          </a:prstGeom>
          <a:solidFill>
            <a:srgbClr val="7B35A0"/>
          </a:solidFill>
          <a:ln/>
          <a:effectLst>
            <a:outerShdw sx="100000" sy="100000" kx="0" ky="0" algn="bl" rotWithShape="0" blurRad="76200" dist="25400" dir="16200000">
              <a:srgbClr val="000000">
                <a:alpha val="15000"/>
              </a:srgbClr>
            </a:outerShdw>
          </a:effectLst>
        </p:spPr>
      </p:sp>
      <p:sp>
        <p:nvSpPr>
          <p:cNvPr id="30" name="Text 28"/>
          <p:cNvSpPr/>
          <p:nvPr/>
        </p:nvSpPr>
        <p:spPr>
          <a:xfrm>
            <a:off x="4709160" y="2761488"/>
            <a:ext cx="30403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W3〜W5</a:t>
            </a:r>
            <a:endParaRPr lang="en-US" sz="1000" dirty="0"/>
          </a:p>
        </p:txBody>
      </p:sp>
      <p:sp>
        <p:nvSpPr>
          <p:cNvPr id="31" name="Shape 29"/>
          <p:cNvSpPr/>
          <p:nvPr/>
        </p:nvSpPr>
        <p:spPr>
          <a:xfrm>
            <a:off x="182880" y="3310128"/>
            <a:ext cx="2377440" cy="566928"/>
          </a:xfrm>
          <a:prstGeom prst="rect">
            <a:avLst/>
          </a:prstGeom>
          <a:solidFill>
            <a:srgbClr val="162840"/>
          </a:solidFill>
          <a:ln/>
        </p:spPr>
      </p:sp>
      <p:sp>
        <p:nvSpPr>
          <p:cNvPr id="32" name="Text 30"/>
          <p:cNvSpPr/>
          <p:nvPr/>
        </p:nvSpPr>
        <p:spPr>
          <a:xfrm>
            <a:off x="256032" y="3310128"/>
            <a:ext cx="2304288" cy="566928"/>
          </a:xfrm>
          <a:prstGeom prst="rect">
            <a:avLst/>
          </a:prstGeom>
          <a:noFill/>
          <a:ln/>
        </p:spPr>
        <p:txBody>
          <a:bodyPr wrap="square" rtlCol="0" anchor="ctr"/>
          <a:lstStyle/>
          <a:p>
            <a:pPr indent="0" marL="0">
              <a:buNone/>
            </a:pPr>
            <a:r>
              <a:rPr lang="en-US" sz="1100" b="1" dirty="0">
                <a:solidFill>
                  <a:srgbClr val="FFFFFF"/>
                </a:solidFill>
                <a:latin typeface="Meiryo" pitchFamily="34" charset="0"/>
                <a:ea typeface="Meiryo" pitchFamily="34" charset="-122"/>
                <a:cs typeface="Meiryo" pitchFamily="34" charset="-120"/>
              </a:rPr>
              <a:t>ステージング 負荷テスト再実施
</a:t>
            </a:r>
            <a:pPr indent="0" marL="0">
              <a:buNone/>
            </a:pPr>
            <a:r>
              <a:rPr lang="en-US" sz="900" dirty="0">
                <a:solidFill>
                  <a:srgbClr val="FFFFFF"/>
                </a:solidFill>
                <a:latin typeface="Meiryo" pitchFamily="34" charset="0"/>
                <a:ea typeface="Meiryo" pitchFamily="34" charset="-122"/>
                <a:cs typeface="Meiryo" pitchFamily="34" charset="-120"/>
              </a:rPr>
              <a:t>QA + インフラ</a:t>
            </a:r>
            <a:endParaRPr lang="en-US" sz="1100" dirty="0"/>
          </a:p>
        </p:txBody>
      </p:sp>
      <p:sp>
        <p:nvSpPr>
          <p:cNvPr id="33" name="Shape 31"/>
          <p:cNvSpPr/>
          <p:nvPr/>
        </p:nvSpPr>
        <p:spPr>
          <a:xfrm>
            <a:off x="2651760" y="3310128"/>
            <a:ext cx="6172200" cy="566928"/>
          </a:xfrm>
          <a:prstGeom prst="rect">
            <a:avLst/>
          </a:prstGeom>
          <a:solidFill>
            <a:srgbClr val="1A2F4A"/>
          </a:solidFill>
          <a:ln/>
        </p:spPr>
      </p:sp>
      <p:sp>
        <p:nvSpPr>
          <p:cNvPr id="34" name="Shape 32"/>
          <p:cNvSpPr/>
          <p:nvPr/>
        </p:nvSpPr>
        <p:spPr>
          <a:xfrm>
            <a:off x="6766560" y="3401568"/>
            <a:ext cx="982980" cy="384048"/>
          </a:xfrm>
          <a:prstGeom prst="rect">
            <a:avLst/>
          </a:prstGeom>
          <a:solidFill>
            <a:srgbClr val="C07000"/>
          </a:solidFill>
          <a:ln/>
          <a:effectLst>
            <a:outerShdw sx="100000" sy="100000" kx="0" ky="0" algn="bl" rotWithShape="0" blurRad="76200" dist="25400" dir="16200000">
              <a:srgbClr val="000000">
                <a:alpha val="15000"/>
              </a:srgbClr>
            </a:outerShdw>
          </a:effectLst>
        </p:spPr>
      </p:sp>
      <p:sp>
        <p:nvSpPr>
          <p:cNvPr id="35" name="Text 33"/>
          <p:cNvSpPr/>
          <p:nvPr/>
        </p:nvSpPr>
        <p:spPr>
          <a:xfrm>
            <a:off x="6766560" y="3401568"/>
            <a:ext cx="9829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W5〜W5</a:t>
            </a:r>
            <a:endParaRPr lang="en-US" sz="1000" dirty="0"/>
          </a:p>
        </p:txBody>
      </p:sp>
      <p:sp>
        <p:nvSpPr>
          <p:cNvPr id="36" name="Shape 34"/>
          <p:cNvSpPr/>
          <p:nvPr/>
        </p:nvSpPr>
        <p:spPr>
          <a:xfrm>
            <a:off x="182880" y="3950208"/>
            <a:ext cx="2377440" cy="566928"/>
          </a:xfrm>
          <a:prstGeom prst="rect">
            <a:avLst/>
          </a:prstGeom>
          <a:solidFill>
            <a:srgbClr val="162840"/>
          </a:solidFill>
          <a:ln/>
        </p:spPr>
      </p:sp>
      <p:sp>
        <p:nvSpPr>
          <p:cNvPr id="37" name="Text 35"/>
          <p:cNvSpPr/>
          <p:nvPr/>
        </p:nvSpPr>
        <p:spPr>
          <a:xfrm>
            <a:off x="256032" y="3950208"/>
            <a:ext cx="2304288" cy="566928"/>
          </a:xfrm>
          <a:prstGeom prst="rect">
            <a:avLst/>
          </a:prstGeom>
          <a:noFill/>
          <a:ln/>
        </p:spPr>
        <p:txBody>
          <a:bodyPr wrap="square" rtlCol="0" anchor="ctr"/>
          <a:lstStyle/>
          <a:p>
            <a:pPr indent="0" marL="0">
              <a:buNone/>
            </a:pPr>
            <a:r>
              <a:rPr lang="en-US" sz="1100" b="1" dirty="0">
                <a:solidFill>
                  <a:srgbClr val="FFFFFF"/>
                </a:solidFill>
                <a:latin typeface="Meiryo" pitchFamily="34" charset="0"/>
                <a:ea typeface="Meiryo" pitchFamily="34" charset="-122"/>
                <a:cs typeface="Meiryo" pitchFamily="34" charset="-120"/>
              </a:rPr>
              <a:t>本番デプロイ・監視強化
</a:t>
            </a:r>
            <a:pPr indent="0" marL="0">
              <a:buNone/>
            </a:pPr>
            <a:r>
              <a:rPr lang="en-US" sz="900" dirty="0">
                <a:solidFill>
                  <a:srgbClr val="FFFFFF"/>
                </a:solidFill>
                <a:latin typeface="Meiryo" pitchFamily="34" charset="0"/>
                <a:ea typeface="Meiryo" pitchFamily="34" charset="-122"/>
                <a:cs typeface="Meiryo" pitchFamily="34" charset="-120"/>
              </a:rPr>
              <a:t>全チーム</a:t>
            </a:r>
            <a:endParaRPr lang="en-US" sz="1100" dirty="0"/>
          </a:p>
        </p:txBody>
      </p:sp>
      <p:sp>
        <p:nvSpPr>
          <p:cNvPr id="38" name="Shape 36"/>
          <p:cNvSpPr/>
          <p:nvPr/>
        </p:nvSpPr>
        <p:spPr>
          <a:xfrm>
            <a:off x="2651760" y="3950208"/>
            <a:ext cx="6172200" cy="566928"/>
          </a:xfrm>
          <a:prstGeom prst="rect">
            <a:avLst/>
          </a:prstGeom>
          <a:solidFill>
            <a:srgbClr val="1A2F4A"/>
          </a:solidFill>
          <a:ln/>
        </p:spPr>
      </p:sp>
      <p:sp>
        <p:nvSpPr>
          <p:cNvPr id="39" name="Shape 37"/>
          <p:cNvSpPr/>
          <p:nvPr/>
        </p:nvSpPr>
        <p:spPr>
          <a:xfrm>
            <a:off x="7795260" y="4041648"/>
            <a:ext cx="982980" cy="384048"/>
          </a:xfrm>
          <a:prstGeom prst="rect">
            <a:avLst/>
          </a:prstGeom>
          <a:solidFill>
            <a:srgbClr val="2E7D32"/>
          </a:solidFill>
          <a:ln/>
          <a:effectLst>
            <a:outerShdw sx="100000" sy="100000" kx="0" ky="0" algn="bl" rotWithShape="0" blurRad="76200" dist="25400" dir="16200000">
              <a:srgbClr val="000000">
                <a:alpha val="15000"/>
              </a:srgbClr>
            </a:outerShdw>
          </a:effectLst>
        </p:spPr>
      </p:sp>
      <p:sp>
        <p:nvSpPr>
          <p:cNvPr id="40" name="Text 38"/>
          <p:cNvSpPr/>
          <p:nvPr/>
        </p:nvSpPr>
        <p:spPr>
          <a:xfrm>
            <a:off x="7795260" y="4041648"/>
            <a:ext cx="98298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W6〜W6</a:t>
            </a:r>
            <a:endParaRPr lang="en-US" sz="1000" dirty="0"/>
          </a:p>
        </p:txBody>
      </p:sp>
      <p:sp>
        <p:nvSpPr>
          <p:cNvPr id="41" name="Shape 39"/>
          <p:cNvSpPr/>
          <p:nvPr/>
        </p:nvSpPr>
        <p:spPr>
          <a:xfrm>
            <a:off x="182880" y="4773168"/>
            <a:ext cx="8778240" cy="274320"/>
          </a:xfrm>
          <a:prstGeom prst="rect">
            <a:avLst/>
          </a:prstGeom>
          <a:solidFill>
            <a:srgbClr val="0D1A2E"/>
          </a:solidFill>
          <a:ln/>
        </p:spPr>
      </p:sp>
      <p:sp>
        <p:nvSpPr>
          <p:cNvPr id="42" name="Text 40"/>
          <p:cNvSpPr/>
          <p:nvPr/>
        </p:nvSpPr>
        <p:spPr>
          <a:xfrm>
            <a:off x="182880" y="4773168"/>
            <a:ext cx="8778240" cy="274320"/>
          </a:xfrm>
          <a:prstGeom prst="rect">
            <a:avLst/>
          </a:prstGeom>
          <a:noFill/>
          <a:ln/>
        </p:spPr>
        <p:txBody>
          <a:bodyPr wrap="square" lIns="0" tIns="0" rIns="0" bIns="0" rtlCol="0" anchor="ctr"/>
          <a:lstStyle/>
          <a:p>
            <a:pPr algn="ctr" indent="0" marL="0">
              <a:buNone/>
            </a:pPr>
            <a:r>
              <a:rPr lang="en-US" sz="1100" b="1" dirty="0">
                <a:solidFill>
                  <a:srgbClr val="4D94CC"/>
                </a:solidFill>
                <a:latin typeface="Meiryo" pitchFamily="34" charset="0"/>
                <a:ea typeface="Meiryo" pitchFamily="34" charset="-122"/>
                <a:cs typeface="Meiryo" pitchFamily="34" charset="-120"/>
              </a:rPr>
              <a:t>目標: P99レイテンシ 500ms以内（現行5,400msから 90%改善）— W5の負荷テストでGo/No-Go判断</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2026-03-04T04:03:24Z</dcterms:created>
  <dcterms:modified xsi:type="dcterms:W3CDTF">2026-03-04T04:03:24Z</dcterms:modified>
</cp:coreProperties>
</file>