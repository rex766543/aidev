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0"/>
            <a:ext cx="64008" cy="2560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アーキテクチャレビュー 2025 Q3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負荷テスト結果に基づくスケーラビリティ課題の分析と改善案検討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作成日: </a:t>
            </a:r>
            <a:pPr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2025年10月15日　　</a:t>
            </a:r>
            <a:pPr indent="0" marL="0">
              <a:buNone/>
            </a:pPr>
            <a:r>
              <a:rPr lang="en-US" sz="1200" b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作成者: </a:t>
            </a:r>
            <a:pPr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プラットフォームチーム　　</a:t>
            </a:r>
            <a:pPr indent="0" marL="0">
              <a:buNone/>
            </a:pPr>
            <a:r>
              <a:rPr lang="en-US" sz="1200" b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ステータス: </a:t>
            </a:r>
            <a:pPr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検討中止（予算都合により延期）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05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背景・課題の概要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914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QPS増加率（前年比）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需要急増中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2560320" cy="914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4,200ms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P99レイテンシ @ 500接続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103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正常時の45倍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05840"/>
            <a:ext cx="2560320" cy="9144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100接続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DBコネクションプール上限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3台のAPPで共有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51460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2025年Q2に本番障害（検索APIの断続的タイムアウト）が発生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QPS増加傾向（前年比+180%）に対して現行モノリス構成では対応限界に到達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全APIが同一DBコネクションプールを共有しており、高負荷時にコネクション枯渇が発生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バッチ処理（夜間集計）とリアルタイムAPIが同一DBを競合使用しており干渉が常態化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現行アーキテクチャ — ボトルネックの所在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960120"/>
            <a:ext cx="2560320" cy="56692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9601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 / モバイルアプリ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1527048"/>
            <a:ext cx="0" cy="210312"/>
          </a:xfrm>
          <a:prstGeom prst="line">
            <a:avLst/>
          </a:prstGeom>
          <a:noFill/>
          <a:ln w="25400">
            <a:solidFill>
              <a:srgbClr val="7799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38528" y="16642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99BB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60320" cy="566928"/>
          </a:xfrm>
          <a:prstGeom prst="rect">
            <a:avLst/>
          </a:prstGeom>
          <a:solidFill>
            <a:srgbClr val="2C4A8C"/>
          </a:solidFill>
          <a:ln/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7830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2350008"/>
            <a:ext cx="0" cy="210312"/>
          </a:xfrm>
          <a:prstGeom prst="line">
            <a:avLst/>
          </a:prstGeom>
          <a:noFill/>
          <a:ln w="25400">
            <a:solidFill>
              <a:srgbClr val="7799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24871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99BB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606040"/>
            <a:ext cx="2560320" cy="566928"/>
          </a:xfrm>
          <a:prstGeom prst="rect">
            <a:avLst/>
          </a:prstGeom>
          <a:solidFill>
            <a:srgbClr val="3A5EA8"/>
          </a:solidFill>
          <a:ln/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6060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App Server x3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水平スケール済み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03120" y="3172968"/>
            <a:ext cx="0" cy="210312"/>
          </a:xfrm>
          <a:prstGeom prst="line">
            <a:avLst/>
          </a:prstGeom>
          <a:noFill/>
          <a:ln w="25400">
            <a:solidFill>
              <a:srgbClr val="D32F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38528" y="33101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2F2F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429000"/>
            <a:ext cx="2560320" cy="566928"/>
          </a:xfrm>
          <a:prstGeom prst="rect">
            <a:avLst/>
          </a:prstGeom>
          <a:solidFill>
            <a:srgbClr val="D32F2F"/>
          </a:solidFill>
          <a:ln w="38100">
            <a:solidFill>
              <a:srgbClr val="FF8888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4290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シングルインスタンス ⚠ BOTTLENECK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1280160"/>
            <a:ext cx="411480" cy="0"/>
          </a:xfrm>
          <a:prstGeom prst="line">
            <a:avLst/>
          </a:prstGeom>
          <a:noFill/>
          <a:ln w="12700">
            <a:solidFill>
              <a:srgbClr val="CCAAA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931920" y="1024128"/>
            <a:ext cx="4937760" cy="658368"/>
          </a:xfrm>
          <a:prstGeom prst="rect">
            <a:avLst/>
          </a:prstGeom>
          <a:solidFill>
            <a:srgbClr val="FFF0F0"/>
          </a:solidFill>
          <a:ln w="12700">
            <a:solidFill>
              <a:srgbClr val="DD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1648" y="102412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全クエリがDBへ直接集中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2103120"/>
            <a:ext cx="411480" cy="0"/>
          </a:xfrm>
          <a:prstGeom prst="line">
            <a:avLst/>
          </a:prstGeom>
          <a:noFill/>
          <a:ln w="12700">
            <a:solidFill>
              <a:srgbClr val="CCAAA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931920" y="1847088"/>
            <a:ext cx="4937760" cy="658368"/>
          </a:xfrm>
          <a:prstGeom prst="rect">
            <a:avLst/>
          </a:prstGeom>
          <a:solidFill>
            <a:srgbClr val="FFF0F0"/>
          </a:solidFill>
          <a:ln w="12700">
            <a:solidFill>
              <a:srgbClr val="DD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1648" y="184708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コネクションプール上限100接続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3台のApp Serverで共有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2926080"/>
            <a:ext cx="411480" cy="0"/>
          </a:xfrm>
          <a:prstGeom prst="line">
            <a:avLst/>
          </a:prstGeom>
          <a:noFill/>
          <a:ln w="12700">
            <a:solidFill>
              <a:srgbClr val="CCAAA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931920" y="2670048"/>
            <a:ext cx="4937760" cy="658368"/>
          </a:xfrm>
          <a:prstGeom prst="rect">
            <a:avLst/>
          </a:prstGeom>
          <a:solidFill>
            <a:srgbClr val="FFF0F0"/>
          </a:solidFill>
          <a:ln w="12700">
            <a:solidFill>
              <a:srgbClr val="DD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41648" y="267004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バッチ処理とAPIが競合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高負荷時に枯渇→タイムアウト発生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負荷テスト結果（2025年9月実施）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56032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332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4,200ms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@ 500接続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75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正常時の45倍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56032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332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20040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エラー率 @ 800接続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975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実質サービス停止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60120"/>
            <a:ext cx="2560320" cy="73152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0332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03504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DBピークCPU使用率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975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警告閾値: 80%超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841248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同時接続数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エラー率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7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7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改善案の比較検討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3520440"/>
          </a:xfrm>
          <a:prstGeom prst="rect">
            <a:avLst/>
          </a:prstGeom>
          <a:solidFill>
            <a:srgbClr val="F0FFF4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1097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Shape 4"/>
          <p:cNvSpPr/>
          <p:nvPr/>
        </p:nvSpPr>
        <p:spPr>
          <a:xfrm>
            <a:off x="2103120" y="1051560"/>
            <a:ext cx="777240" cy="2560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051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推奨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案1: Redis キャッシュ導入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対象: 検索・ランキングAPI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DB負荷 60〜70% 削減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工数: 3〜4週間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コスト: $150/月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187952"/>
            <a:ext cx="2651760" cy="2468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4187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費用対効果 最高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651760" cy="3520440"/>
          </a:xfrm>
          <a:prstGeom prst="rect">
            <a:avLst/>
          </a:prstGeom>
          <a:solidFill>
            <a:srgbClr val="FFFFF0"/>
          </a:solidFill>
          <a:ln w="25400">
            <a:solidFill>
              <a:srgbClr val="F57F1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14400"/>
            <a:ext cx="2651760" cy="10972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4" name="Shape 12"/>
          <p:cNvSpPr/>
          <p:nvPr/>
        </p:nvSpPr>
        <p:spPr>
          <a:xfrm>
            <a:off x="4983480" y="1051560"/>
            <a:ext cx="777240" cy="256032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051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暫定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1051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案2: Read Replica 追加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645920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参照クエリをオフロード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94%→62% 改善実績あり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工数: 1〜2週間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コスト: $200/月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4187952"/>
            <a:ext cx="2651760" cy="24688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4187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根本解決にならず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914400"/>
            <a:ext cx="2651760" cy="3520440"/>
          </a:xfrm>
          <a:prstGeom prst="rect">
            <a:avLst/>
          </a:prstGeom>
          <a:solidFill>
            <a:srgbClr val="F5F5F5"/>
          </a:solidFill>
          <a:ln w="254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914400"/>
            <a:ext cx="2651760" cy="10972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2" name="Shape 20"/>
          <p:cNvSpPr/>
          <p:nvPr/>
        </p:nvSpPr>
        <p:spPr>
          <a:xfrm>
            <a:off x="7863840" y="1051560"/>
            <a:ext cx="777240" cy="256032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1051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長期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1051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案3: マイクロサービス分割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1645920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検索・ランキングを独立化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最も根本的な解決策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工数: 数ヶ月規模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移行コスト: 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4187952"/>
            <a:ext cx="2651760" cy="246888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4187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短期対応には不適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推奨: 案1（Redis）+ 案2（Read Replica）の組み合わせで段階的に対応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 &amp; 次期アクション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49808"/>
          </a:xfrm>
          <a:prstGeom prst="rect">
            <a:avLst/>
          </a:prstGeom>
          <a:solidFill>
            <a:srgbClr val="162050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案1（Redis）+ 案3（SQS非同期化）の組み合わせを中長期推奨として記録。2026年Q1予算申請時に再提出予定。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2606040"/>
            <a:ext cx="128016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542032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CC"/>
                </a:solidFill>
              </a:rPr>
              <a:t>&gt;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554480" cy="2651760"/>
          </a:xfrm>
          <a:prstGeom prst="rect">
            <a:avLst/>
          </a:prstGeom>
          <a:solidFill>
            <a:srgbClr val="16205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03120"/>
            <a:ext cx="155448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194560"/>
            <a:ext cx="109728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92608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本番適用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02736" y="2606040"/>
            <a:ext cx="128016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2542032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CC"/>
                </a:solidFill>
              </a:rPr>
              <a:t>&gt;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48256" y="2103120"/>
            <a:ext cx="1554480" cy="265176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48256" y="2103120"/>
            <a:ext cx="155448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Shape 16"/>
          <p:cNvSpPr/>
          <p:nvPr/>
        </p:nvSpPr>
        <p:spPr>
          <a:xfrm>
            <a:off x="2276856" y="2194560"/>
            <a:ext cx="1097280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9" name="Text 17"/>
          <p:cNvSpPr/>
          <p:nvPr/>
        </p:nvSpPr>
        <p:spPr>
          <a:xfrm>
            <a:off x="2276856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48256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W1-2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21408" y="292608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設計・構築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85232" y="2606040"/>
            <a:ext cx="128016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2542032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CC"/>
                </a:solidFill>
              </a:rPr>
              <a:t>&gt;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30752" y="2103120"/>
            <a:ext cx="1554480" cy="265176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30752" y="2103120"/>
            <a:ext cx="155448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6" name="Shape 24"/>
          <p:cNvSpPr/>
          <p:nvPr/>
        </p:nvSpPr>
        <p:spPr>
          <a:xfrm>
            <a:off x="3959352" y="2194560"/>
            <a:ext cx="1097280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7" name="Text 25"/>
          <p:cNvSpPr/>
          <p:nvPr/>
        </p:nvSpPr>
        <p:spPr>
          <a:xfrm>
            <a:off x="3959352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NEXT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30752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W3-4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03904" y="292608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キャッシュ層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実装・テスト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67728" y="2606040"/>
            <a:ext cx="128016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2542032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CC"/>
                </a:solidFill>
              </a:rPr>
              <a:t>&gt;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13248" y="2103120"/>
            <a:ext cx="1554480" cy="265176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13248" y="2103120"/>
            <a:ext cx="155448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4" name="Shape 32"/>
          <p:cNvSpPr/>
          <p:nvPr/>
        </p:nvSpPr>
        <p:spPr>
          <a:xfrm>
            <a:off x="5641848" y="2194560"/>
            <a:ext cx="1097280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5" name="Text 33"/>
          <p:cNvSpPr/>
          <p:nvPr/>
        </p:nvSpPr>
        <p:spPr>
          <a:xfrm>
            <a:off x="5641848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NEXT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13248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W5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292608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負荷テスト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再実施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95744" y="2103120"/>
            <a:ext cx="1554480" cy="265176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95744" y="2103120"/>
            <a:ext cx="155448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0" name="Shape 38"/>
          <p:cNvSpPr/>
          <p:nvPr/>
        </p:nvSpPr>
        <p:spPr>
          <a:xfrm>
            <a:off x="7324344" y="2194560"/>
            <a:ext cx="1097280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1" name="Text 39"/>
          <p:cNvSpPr/>
          <p:nvPr/>
        </p:nvSpPr>
        <p:spPr>
          <a:xfrm>
            <a:off x="7324344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NEXT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95744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W6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68896" y="292608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本番デプロイ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監視強化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0D1A40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目標: P99レイテンシ 500ms以内（現行比 90% 改善）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2026-03-04T03:35:17Z</dcterms:created>
  <dcterms:modified xsi:type="dcterms:W3CDTF">2026-03-04T03:35:17Z</dcterms:modified>
</cp:coreProperties>
</file>